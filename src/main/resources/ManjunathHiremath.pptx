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
  </p:notesMasterIdLst>
  <p:sldIdLst>
    <p:sldId id="276" r:id="rId2"/>
    <p:sldId id="278" r:id="rId3"/>
    <p:sldId id="268" r:id="rId4"/>
    <p:sldId id="269" r:id="rId5"/>
    <p:sldId id="267"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3741" autoAdjust="0"/>
  </p:normalViewPr>
  <p:slideViewPr>
    <p:cSldViewPr snapToGrid="0">
      <p:cViewPr varScale="1">
        <p:scale>
          <a:sx n="62" d="100"/>
          <a:sy n="62" d="100"/>
        </p:scale>
        <p:origin x="828"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12"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ayatri hiremath" userId="f8ab3e9b8991933e" providerId="LiveId" clId="{EC544EFA-8BD4-45FC-B1DA-F7F88C206656}"/>
    <pc:docChg chg="custSel modSld">
      <pc:chgData name="gayatri hiremath" userId="f8ab3e9b8991933e" providerId="LiveId" clId="{EC544EFA-8BD4-45FC-B1DA-F7F88C206656}" dt="2026-06-07T08:39:23.010" v="115" actId="6549"/>
      <pc:docMkLst>
        <pc:docMk/>
      </pc:docMkLst>
      <pc:sldChg chg="modSp mod">
        <pc:chgData name="gayatri hiremath" userId="f8ab3e9b8991933e" providerId="LiveId" clId="{EC544EFA-8BD4-45FC-B1DA-F7F88C206656}" dt="2026-06-07T08:39:23.010" v="115" actId="6549"/>
        <pc:sldMkLst>
          <pc:docMk/>
          <pc:sldMk cId="3586992287" sldId="267"/>
        </pc:sldMkLst>
        <pc:spChg chg="mod">
          <ac:chgData name="gayatri hiremath" userId="f8ab3e9b8991933e" providerId="LiveId" clId="{EC544EFA-8BD4-45FC-B1DA-F7F88C206656}" dt="2026-06-07T08:39:23.010" v="115" actId="6549"/>
          <ac:spMkLst>
            <pc:docMk/>
            <pc:sldMk cId="3586992287" sldId="267"/>
            <ac:spMk id="4" creationId="{4279283C-07CC-D5ED-4187-80C59D1EDB5B}"/>
          </ac:spMkLst>
        </pc:spChg>
      </pc:sldChg>
      <pc:sldChg chg="modSp mod">
        <pc:chgData name="gayatri hiremath" userId="f8ab3e9b8991933e" providerId="LiveId" clId="{EC544EFA-8BD4-45FC-B1DA-F7F88C206656}" dt="2026-06-07T08:36:38.414" v="94" actId="1036"/>
        <pc:sldMkLst>
          <pc:docMk/>
          <pc:sldMk cId="262201793" sldId="268"/>
        </pc:sldMkLst>
        <pc:spChg chg="mod">
          <ac:chgData name="gayatri hiremath" userId="f8ab3e9b8991933e" providerId="LiveId" clId="{EC544EFA-8BD4-45FC-B1DA-F7F88C206656}" dt="2026-06-07T08:36:38.414" v="94" actId="1036"/>
          <ac:spMkLst>
            <pc:docMk/>
            <pc:sldMk cId="262201793" sldId="268"/>
            <ac:spMk id="46" creationId="{08433B96-F4F8-7938-7AD4-0F7D7C17674D}"/>
          </ac:spMkLst>
        </pc:spChg>
        <pc:graphicFrameChg chg="mod modGraphic">
          <ac:chgData name="gayatri hiremath" userId="f8ab3e9b8991933e" providerId="LiveId" clId="{EC544EFA-8BD4-45FC-B1DA-F7F88C206656}" dt="2026-06-07T08:35:16.101" v="43" actId="1035"/>
          <ac:graphicFrameMkLst>
            <pc:docMk/>
            <pc:sldMk cId="262201793" sldId="268"/>
            <ac:graphicFrameMk id="41" creationId="{ABC5C921-20F0-AF03-EBF8-E63023FC3C98}"/>
          </ac:graphicFrameMkLst>
        </pc:graphicFrameChg>
        <pc:graphicFrameChg chg="mod">
          <ac:chgData name="gayatri hiremath" userId="f8ab3e9b8991933e" providerId="LiveId" clId="{EC544EFA-8BD4-45FC-B1DA-F7F88C206656}" dt="2026-06-07T08:35:22.671" v="59" actId="1035"/>
          <ac:graphicFrameMkLst>
            <pc:docMk/>
            <pc:sldMk cId="262201793" sldId="268"/>
            <ac:graphicFrameMk id="43" creationId="{4254F873-2E36-610B-D591-F5219441B9A6}"/>
          </ac:graphicFrameMkLst>
        </pc:graphicFrameChg>
        <pc:graphicFrameChg chg="mod">
          <ac:chgData name="gayatri hiremath" userId="f8ab3e9b8991933e" providerId="LiveId" clId="{EC544EFA-8BD4-45FC-B1DA-F7F88C206656}" dt="2026-06-07T08:35:29.695" v="80" actId="1035"/>
          <ac:graphicFrameMkLst>
            <pc:docMk/>
            <pc:sldMk cId="262201793" sldId="268"/>
            <ac:graphicFrameMk id="44" creationId="{6A1A9BC3-174D-7CAB-5CBE-3D986801351F}"/>
          </ac:graphicFrameMkLst>
        </pc:graphicFrameChg>
        <pc:graphicFrameChg chg="modGraphic">
          <ac:chgData name="gayatri hiremath" userId="f8ab3e9b8991933e" providerId="LiveId" clId="{EC544EFA-8BD4-45FC-B1DA-F7F88C206656}" dt="2026-06-07T08:32:32.094" v="5" actId="255"/>
          <ac:graphicFrameMkLst>
            <pc:docMk/>
            <pc:sldMk cId="262201793" sldId="268"/>
            <ac:graphicFrameMk id="48" creationId="{90A5B97D-1C44-9CF1-C2D4-4CC84A5D5D65}"/>
          </ac:graphicFrameMkLst>
        </pc:graphicFrameChg>
      </pc:sldChg>
      <pc:sldChg chg="modSp mod">
        <pc:chgData name="gayatri hiremath" userId="f8ab3e9b8991933e" providerId="LiveId" clId="{EC544EFA-8BD4-45FC-B1DA-F7F88C206656}" dt="2026-06-07T08:38:22.658" v="105" actId="1035"/>
        <pc:sldMkLst>
          <pc:docMk/>
          <pc:sldMk cId="1205995576" sldId="269"/>
        </pc:sldMkLst>
        <pc:graphicFrameChg chg="modGraphic">
          <ac:chgData name="gayatri hiremath" userId="f8ab3e9b8991933e" providerId="LiveId" clId="{EC544EFA-8BD4-45FC-B1DA-F7F88C206656}" dt="2026-06-07T08:36:59.117" v="95" actId="207"/>
          <ac:graphicFrameMkLst>
            <pc:docMk/>
            <pc:sldMk cId="1205995576" sldId="269"/>
            <ac:graphicFrameMk id="10" creationId="{64ABA25A-85A9-7EAF-10DF-22E1074A6E94}"/>
          </ac:graphicFrameMkLst>
        </pc:graphicFrameChg>
        <pc:graphicFrameChg chg="modGraphic">
          <ac:chgData name="gayatri hiremath" userId="f8ab3e9b8991933e" providerId="LiveId" clId="{EC544EFA-8BD4-45FC-B1DA-F7F88C206656}" dt="2026-06-07T08:37:30.188" v="97" actId="207"/>
          <ac:graphicFrameMkLst>
            <pc:docMk/>
            <pc:sldMk cId="1205995576" sldId="269"/>
            <ac:graphicFrameMk id="11" creationId="{5D3CBD1B-F499-9C26-361A-8F43DB1D0DF0}"/>
          </ac:graphicFrameMkLst>
        </pc:graphicFrameChg>
        <pc:graphicFrameChg chg="modGraphic">
          <ac:chgData name="gayatri hiremath" userId="f8ab3e9b8991933e" providerId="LiveId" clId="{EC544EFA-8BD4-45FC-B1DA-F7F88C206656}" dt="2026-06-07T08:37:58.770" v="99" actId="207"/>
          <ac:graphicFrameMkLst>
            <pc:docMk/>
            <pc:sldMk cId="1205995576" sldId="269"/>
            <ac:graphicFrameMk id="12" creationId="{9241E760-6EFE-02DF-D75A-732364208F97}"/>
          </ac:graphicFrameMkLst>
        </pc:graphicFrameChg>
        <pc:graphicFrameChg chg="modGraphic">
          <ac:chgData name="gayatri hiremath" userId="f8ab3e9b8991933e" providerId="LiveId" clId="{EC544EFA-8BD4-45FC-B1DA-F7F88C206656}" dt="2026-06-07T08:37:17.002" v="96" actId="207"/>
          <ac:graphicFrameMkLst>
            <pc:docMk/>
            <pc:sldMk cId="1205995576" sldId="269"/>
            <ac:graphicFrameMk id="13" creationId="{8CE44704-3F10-C7A3-7F70-26A9824C4447}"/>
          </ac:graphicFrameMkLst>
        </pc:graphicFrameChg>
        <pc:graphicFrameChg chg="mod modGraphic">
          <ac:chgData name="gayatri hiremath" userId="f8ab3e9b8991933e" providerId="LiveId" clId="{EC544EFA-8BD4-45FC-B1DA-F7F88C206656}" dt="2026-06-07T08:38:22.658" v="105" actId="1035"/>
          <ac:graphicFrameMkLst>
            <pc:docMk/>
            <pc:sldMk cId="1205995576" sldId="269"/>
            <ac:graphicFrameMk id="14" creationId="{7310D26F-0489-ADAA-2290-1D2920C78EBC}"/>
          </ac:graphicFrameMkLst>
        </pc:graphicFrameChg>
      </pc:sldChg>
      <pc:sldChg chg="modSp mod">
        <pc:chgData name="gayatri hiremath" userId="f8ab3e9b8991933e" providerId="LiveId" clId="{EC544EFA-8BD4-45FC-B1DA-F7F88C206656}" dt="2026-06-07T08:36:20.639" v="87" actId="255"/>
        <pc:sldMkLst>
          <pc:docMk/>
          <pc:sldMk cId="2794816215" sldId="278"/>
        </pc:sldMkLst>
        <pc:spChg chg="mod">
          <ac:chgData name="gayatri hiremath" userId="f8ab3e9b8991933e" providerId="LiveId" clId="{EC544EFA-8BD4-45FC-B1DA-F7F88C206656}" dt="2026-06-07T08:33:22.708" v="8" actId="14100"/>
          <ac:spMkLst>
            <pc:docMk/>
            <pc:sldMk cId="2794816215" sldId="278"/>
            <ac:spMk id="6" creationId="{0C4BD172-E825-E35A-3386-A295AC983556}"/>
          </ac:spMkLst>
        </pc:spChg>
        <pc:spChg chg="mod">
          <ac:chgData name="gayatri hiremath" userId="f8ab3e9b8991933e" providerId="LiveId" clId="{EC544EFA-8BD4-45FC-B1DA-F7F88C206656}" dt="2026-06-07T08:36:07.603" v="84" actId="255"/>
          <ac:spMkLst>
            <pc:docMk/>
            <pc:sldMk cId="2794816215" sldId="278"/>
            <ac:spMk id="10" creationId="{6C4392F9-B1BC-94A2-E0B0-EBA30DD1C662}"/>
          </ac:spMkLst>
        </pc:spChg>
        <pc:spChg chg="mod">
          <ac:chgData name="gayatri hiremath" userId="f8ab3e9b8991933e" providerId="LiveId" clId="{EC544EFA-8BD4-45FC-B1DA-F7F88C206656}" dt="2026-06-07T08:34:25.374" v="28" actId="20577"/>
          <ac:spMkLst>
            <pc:docMk/>
            <pc:sldMk cId="2794816215" sldId="278"/>
            <ac:spMk id="11" creationId="{C1718F61-38F6-91BC-DCED-7354DA25E0A0}"/>
          </ac:spMkLst>
        </pc:spChg>
        <pc:spChg chg="mod">
          <ac:chgData name="gayatri hiremath" userId="f8ab3e9b8991933e" providerId="LiveId" clId="{EC544EFA-8BD4-45FC-B1DA-F7F88C206656}" dt="2026-06-07T08:36:01.852" v="83" actId="255"/>
          <ac:spMkLst>
            <pc:docMk/>
            <pc:sldMk cId="2794816215" sldId="278"/>
            <ac:spMk id="12" creationId="{1E2F3EC6-1564-1434-18BF-9D5B7CC3E179}"/>
          </ac:spMkLst>
        </pc:spChg>
        <pc:spChg chg="mod">
          <ac:chgData name="gayatri hiremath" userId="f8ab3e9b8991933e" providerId="LiveId" clId="{EC544EFA-8BD4-45FC-B1DA-F7F88C206656}" dt="2026-06-07T08:34:29.760" v="30" actId="20577"/>
          <ac:spMkLst>
            <pc:docMk/>
            <pc:sldMk cId="2794816215" sldId="278"/>
            <ac:spMk id="13" creationId="{2F1BC2DA-F0F4-F984-C109-25C9E358784D}"/>
          </ac:spMkLst>
        </pc:spChg>
        <pc:spChg chg="mod">
          <ac:chgData name="gayatri hiremath" userId="f8ab3e9b8991933e" providerId="LiveId" clId="{EC544EFA-8BD4-45FC-B1DA-F7F88C206656}" dt="2026-06-07T08:36:16.691" v="86" actId="14100"/>
          <ac:spMkLst>
            <pc:docMk/>
            <pc:sldMk cId="2794816215" sldId="278"/>
            <ac:spMk id="14" creationId="{5B265AF1-C41B-2E11-F3DA-10181BCA71B7}"/>
          </ac:spMkLst>
        </pc:spChg>
        <pc:spChg chg="mod">
          <ac:chgData name="gayatri hiremath" userId="f8ab3e9b8991933e" providerId="LiveId" clId="{EC544EFA-8BD4-45FC-B1DA-F7F88C206656}" dt="2026-06-07T08:34:08.593" v="25" actId="255"/>
          <ac:spMkLst>
            <pc:docMk/>
            <pc:sldMk cId="2794816215" sldId="278"/>
            <ac:spMk id="15" creationId="{FCA0A324-82F8-C790-B8F3-BE395623696D}"/>
          </ac:spMkLst>
        </pc:spChg>
        <pc:spChg chg="mod">
          <ac:chgData name="gayatri hiremath" userId="f8ab3e9b8991933e" providerId="LiveId" clId="{EC544EFA-8BD4-45FC-B1DA-F7F88C206656}" dt="2026-06-07T08:36:20.639" v="87" actId="255"/>
          <ac:spMkLst>
            <pc:docMk/>
            <pc:sldMk cId="2794816215" sldId="278"/>
            <ac:spMk id="16" creationId="{4C4880A0-8719-FAB1-4809-9920CFEAB92F}"/>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52CA5C5-ECBE-4CA8-9657-AB93F8679210}" type="datetimeFigureOut">
              <a:rPr lang="en-US" smtClean="0"/>
              <a:t>6/7/2026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708E4F-C51C-467D-8E9F-1A316B0C7FF1}" type="slidenum">
              <a:rPr lang="en-US" smtClean="0"/>
              <a:t>‹#›</a:t>
            </a:fld>
            <a:endParaRPr lang="en-US"/>
          </a:p>
        </p:txBody>
      </p:sp>
    </p:spTree>
    <p:extLst>
      <p:ext uri="{BB962C8B-B14F-4D97-AF65-F5344CB8AC3E}">
        <p14:creationId xmlns:p14="http://schemas.microsoft.com/office/powerpoint/2010/main" val="36445328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and thank you for the opportunity to present.</a:t>
            </a:r>
          </a:p>
          <a:p>
            <a:endParaRPr lang="en-US" dirty="0"/>
          </a:p>
          <a:p>
            <a:r>
              <a:rPr lang="en-US" dirty="0"/>
              <a:t>I'm Manjunath, an Architect and Azure Solutions Architect Expert with over 16 years of industry experience, including the last 6 years with the firm.</a:t>
            </a:r>
          </a:p>
          <a:p>
            <a:r>
              <a:rPr lang="en-US" dirty="0"/>
              <a:t>Throughout my career, I've focused on solving complex technology challenges, but over the last several years my role has evolved beyond solution architecture into broader engineering leadership. My focus has increasingly been on building high-performing teams, driving technology transformation, and ensuring that engineering investments translate into measurable business outcomes.</a:t>
            </a:r>
          </a:p>
          <a:p>
            <a:endParaRPr lang="en-US" dirty="0"/>
          </a:p>
          <a:p>
            <a:r>
              <a:rPr lang="en-US" dirty="0"/>
              <a:t>From a leadership perspective, I've worked to create an environment that promotes engineering excellence, collaboration, and accountability while mentoring engineers and helping teams scale their capabilities.</a:t>
            </a:r>
          </a:p>
          <a:p>
            <a:endParaRPr lang="en-US" dirty="0"/>
          </a:p>
          <a:p>
            <a:r>
              <a:rPr lang="en-US" dirty="0"/>
              <a:t>From a transformation perspective, I've led initiatives spanning cloud modernization, global platform delivery, enterprise architecture, and more recently, AI readiness. These efforts have focused not only on delivering solutions, but also on creating reusable capabilities and standards that can be leveraged across the organization.</a:t>
            </a:r>
          </a:p>
          <a:p>
            <a:endParaRPr lang="en-US" dirty="0"/>
          </a:p>
          <a:p>
            <a:r>
              <a:rPr lang="en-US" dirty="0"/>
              <a:t>Finally, I've consistently worked to align technology decisions with business priorities, balancing immediate delivery needs with long-term strategic objectives to improve scalability, reduce complexity, and support organizational growth.</a:t>
            </a:r>
          </a:p>
          <a:p>
            <a:r>
              <a:rPr lang="en-US" dirty="0"/>
              <a:t>The theme of this presentation is my evolution from solution architecture into enterprise engineering leadership, and I'll share examples of how I've expanded my impact across leadership, transformation, and business outcomes.</a:t>
            </a:r>
          </a:p>
        </p:txBody>
      </p:sp>
      <p:sp>
        <p:nvSpPr>
          <p:cNvPr id="4" name="Slide Number Placeholder 3"/>
          <p:cNvSpPr>
            <a:spLocks noGrp="1"/>
          </p:cNvSpPr>
          <p:nvPr>
            <p:ph type="sldNum" sz="quarter" idx="5"/>
          </p:nvPr>
        </p:nvSpPr>
        <p:spPr/>
        <p:txBody>
          <a:bodyPr/>
          <a:lstStyle/>
          <a:p>
            <a:fld id="{072A352D-C215-4D80-858A-6DE784FCC1C6}" type="slidenum">
              <a:rPr lang="en-US" smtClean="0"/>
              <a:t>1</a:t>
            </a:fld>
            <a:endParaRPr lang="en-US" dirty="0"/>
          </a:p>
        </p:txBody>
      </p:sp>
    </p:spTree>
    <p:extLst>
      <p:ext uri="{BB962C8B-B14F-4D97-AF65-F5344CB8AC3E}">
        <p14:creationId xmlns:p14="http://schemas.microsoft.com/office/powerpoint/2010/main" val="41890382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Opening</a:t>
            </a:r>
            <a:endParaRPr lang="en-US" dirty="0"/>
          </a:p>
          <a:p>
            <a:r>
              <a:rPr lang="en-US" dirty="0"/>
              <a:t>One of the most significant leadership challenges I faced was driving enterprise-wide platform transformation without direct reporting authority.</a:t>
            </a:r>
          </a:p>
          <a:p>
            <a:endParaRPr lang="en-US" dirty="0"/>
          </a:p>
          <a:p>
            <a:r>
              <a:rPr lang="en-US" b="1" dirty="0"/>
              <a:t>Context</a:t>
            </a:r>
            <a:endParaRPr lang="en-US" dirty="0"/>
          </a:p>
          <a:p>
            <a:r>
              <a:rPr lang="en-US" dirty="0"/>
              <a:t>The initiatives included AKS platform modernization, global API gateway strategy, AI platform adoption, and large-scale migration programs.</a:t>
            </a:r>
          </a:p>
          <a:p>
            <a:r>
              <a:rPr lang="en-US" dirty="0"/>
              <a:t>Success required aligning stakeholders across Business, Engineering, SRE, Network, Security, and Regulatory teams, each with different priorities and constraints.</a:t>
            </a:r>
          </a:p>
          <a:p>
            <a:endParaRPr lang="en-US" b="1" dirty="0"/>
          </a:p>
          <a:p>
            <a:r>
              <a:rPr lang="en-US" b="1" dirty="0"/>
              <a:t>What I Did</a:t>
            </a:r>
            <a:endParaRPr lang="en-US" dirty="0"/>
          </a:p>
          <a:p>
            <a:r>
              <a:rPr lang="en-US" dirty="0"/>
              <a:t>I focused on creating alignment around shared business outcomes rather than technical objectives.</a:t>
            </a:r>
          </a:p>
          <a:p>
            <a:r>
              <a:rPr lang="en-US" dirty="0"/>
              <a:t>To maintain momentum, I established governance mechanisms that enabled stakeholder participation while ensuring timely decisions and clear accountability.</a:t>
            </a:r>
          </a:p>
          <a:p>
            <a:r>
              <a:rPr lang="en-US" dirty="0"/>
              <a:t>When tradeoffs arose, I used risk-based decision frameworks to drive consensus and balance short-term needs with long-term enterprise value.</a:t>
            </a:r>
          </a:p>
          <a:p>
            <a:r>
              <a:rPr lang="en-US" dirty="0"/>
              <a:t>Throughout these programs, I consistently advocated for scalable platform investments that could be leveraged across multiple teams and business units.</a:t>
            </a:r>
          </a:p>
          <a:p>
            <a:endParaRPr lang="en-US" b="1" dirty="0"/>
          </a:p>
          <a:p>
            <a:r>
              <a:rPr lang="en-US" b="1" dirty="0"/>
              <a:t>Impact</a:t>
            </a:r>
            <a:endParaRPr lang="en-US" dirty="0"/>
          </a:p>
          <a:p>
            <a:r>
              <a:rPr lang="en-US" dirty="0"/>
              <a:t>The result was stronger stakeholder alignment, reduced organizational friction, and successful delivery of several strategic platform initiatives.</a:t>
            </a:r>
          </a:p>
          <a:p>
            <a:r>
              <a:rPr lang="en-US" dirty="0"/>
              <a:t>More importantly, the governance and operating models established through these efforts became reusable patterns that accelerated future transformation programs across the organization.</a:t>
            </a:r>
          </a:p>
        </p:txBody>
      </p:sp>
      <p:sp>
        <p:nvSpPr>
          <p:cNvPr id="4" name="Slide Number Placeholder 3"/>
          <p:cNvSpPr>
            <a:spLocks noGrp="1"/>
          </p:cNvSpPr>
          <p:nvPr>
            <p:ph type="sldNum" sz="quarter" idx="5"/>
          </p:nvPr>
        </p:nvSpPr>
        <p:spPr/>
        <p:txBody>
          <a:bodyPr/>
          <a:lstStyle/>
          <a:p>
            <a:fld id="{072A352D-C215-4D80-858A-6DE784FCC1C6}" type="slidenum">
              <a:rPr lang="en-US" smtClean="0"/>
              <a:t>2</a:t>
            </a:fld>
            <a:endParaRPr lang="en-US" dirty="0"/>
          </a:p>
        </p:txBody>
      </p:sp>
    </p:spTree>
    <p:extLst>
      <p:ext uri="{BB962C8B-B14F-4D97-AF65-F5344CB8AC3E}">
        <p14:creationId xmlns:p14="http://schemas.microsoft.com/office/powerpoint/2010/main" val="34648867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04D83C-2E1F-F2F8-6F2A-96A2FAAB29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67672D-AF1A-DB4B-E6D0-5CB6F3047A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8D62254-16DE-2ABD-DF80-717FE86E76CE}"/>
              </a:ext>
            </a:extLst>
          </p:cNvPr>
          <p:cNvSpPr>
            <a:spLocks noGrp="1"/>
          </p:cNvSpPr>
          <p:nvPr>
            <p:ph type="body" idx="1"/>
          </p:nvPr>
        </p:nvSpPr>
        <p:spPr/>
        <p:txBody>
          <a:bodyPr/>
          <a:lstStyle/>
          <a:p>
            <a:r>
              <a:rPr lang="en-US" dirty="0"/>
              <a:t>One of the most significant leadership challenges I faced was delivering outcomes across a complex ecosystem where many of the stakeholders did not report directly to me.</a:t>
            </a:r>
          </a:p>
          <a:p>
            <a:endParaRPr lang="en-US" dirty="0"/>
          </a:p>
          <a:p>
            <a:r>
              <a:rPr lang="en-US" dirty="0"/>
              <a:t>The work spanned enterprise-wide initiatives including AKS platform maturity, global API gateway standardization, AI platform alignment, and large-scale migration programs. These efforts required coordination across Business, SRE, Network, AI Platform, and Regulatory teams, each with different priorities, constraints, and measures of success.</a:t>
            </a:r>
          </a:p>
          <a:p>
            <a:endParaRPr lang="en-US" dirty="0"/>
          </a:p>
          <a:p>
            <a:r>
              <a:rPr lang="en-US" dirty="0"/>
              <a:t>The challenge was not the technology itself - it was creating alignment across organizations with competing objectives. Business teams prioritized speed and customer outcomes, SRE teams focused on reliability, Network teams on security and connectivity, while Regulatory stakeholders focused on risk and compliance.</a:t>
            </a:r>
          </a:p>
          <a:p>
            <a:r>
              <a:rPr lang="en-US" dirty="0"/>
              <a:t>To be successful, I relied on influence rather than authority. I invested in building trusted relationships, understanding stakeholder perspectives, and reframing discussions around shared business outcomes rather than individual team goals.</a:t>
            </a:r>
          </a:p>
          <a:p>
            <a:endParaRPr lang="en-US" dirty="0"/>
          </a:p>
          <a:p>
            <a:r>
              <a:rPr lang="en-US" dirty="0"/>
              <a:t>I also encouraged long-term platform thinking, helping teams balance immediate needs with enterprise-scale benefits. When difficult trade-offs emerged, I used risk-based decision making and data-driven discussions to build consensus and maintain momentum.</a:t>
            </a:r>
          </a:p>
          <a:p>
            <a:endParaRPr lang="en-US" dirty="0"/>
          </a:p>
          <a:p>
            <a:r>
              <a:rPr lang="en-US" dirty="0"/>
              <a:t>Through this approach, I was able to align multiple organizations around common objectives, reduce cross-functional friction, and advance strategic platform initiatives that supported broader business goals.</a:t>
            </a:r>
          </a:p>
          <a:p>
            <a:endParaRPr lang="en-US" dirty="0"/>
          </a:p>
          <a:p>
            <a:r>
              <a:rPr lang="en-US" dirty="0"/>
              <a:t>This experience reinforced an important leadership principle for me: at scale, impact comes not from organizational authority, but from the ability to align diverse stakeholders, create shared ownership, and drive outcomes across the enterprise.</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i="1" dirty="0"/>
              <a:t>This is the leadership model I continue to apply as I operate at Director scope—creating alignment across organizations and delivering enterprise outcomes through influence.</a:t>
            </a:r>
            <a:endParaRPr lang="en-US" dirty="0"/>
          </a:p>
        </p:txBody>
      </p:sp>
      <p:sp>
        <p:nvSpPr>
          <p:cNvPr id="4" name="Slide Number Placeholder 3">
            <a:extLst>
              <a:ext uri="{FF2B5EF4-FFF2-40B4-BE49-F238E27FC236}">
                <a16:creationId xmlns:a16="http://schemas.microsoft.com/office/drawing/2014/main" id="{28A98125-7445-C906-F421-4DBCD81B13A5}"/>
              </a:ext>
            </a:extLst>
          </p:cNvPr>
          <p:cNvSpPr>
            <a:spLocks noGrp="1"/>
          </p:cNvSpPr>
          <p:nvPr>
            <p:ph type="sldNum" sz="quarter" idx="5"/>
          </p:nvPr>
        </p:nvSpPr>
        <p:spPr/>
        <p:txBody>
          <a:bodyPr/>
          <a:lstStyle/>
          <a:p>
            <a:fld id="{7A11483B-A107-4A2E-9649-F66B9B80EEF6}" type="slidenum">
              <a:rPr lang="en-US" smtClean="0"/>
              <a:t>3</a:t>
            </a:fld>
            <a:endParaRPr lang="en-US" dirty="0"/>
          </a:p>
        </p:txBody>
      </p:sp>
    </p:spTree>
    <p:extLst>
      <p:ext uri="{BB962C8B-B14F-4D97-AF65-F5344CB8AC3E}">
        <p14:creationId xmlns:p14="http://schemas.microsoft.com/office/powerpoint/2010/main" val="25049398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D93663-768A-68B6-1D9E-5DC57636DB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48D830-BFF4-2B24-AAEC-C8BCCB579F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2A0D302-26DB-AA52-D930-A78B3CE1CC33}"/>
              </a:ext>
            </a:extLst>
          </p:cNvPr>
          <p:cNvSpPr>
            <a:spLocks noGrp="1"/>
          </p:cNvSpPr>
          <p:nvPr>
            <p:ph type="body" idx="1"/>
          </p:nvPr>
        </p:nvSpPr>
        <p:spPr/>
        <p:txBody>
          <a:bodyPr/>
          <a:lstStyle/>
          <a:p>
            <a:r>
              <a:rPr lang="en-US" dirty="0"/>
              <a:t>Across the initiatives I've discussed, the most important outcome wasn't the delivery of any single program. It was the creation of enterprise capabilities that continue to scale across the organization.</a:t>
            </a:r>
          </a:p>
          <a:p>
            <a:endParaRPr lang="en-US" dirty="0"/>
          </a:p>
          <a:p>
            <a:r>
              <a:rPr lang="en-US" dirty="0"/>
              <a:t>The work reduced platform duplication, lowered operational overhead, accelerated delivery through reusable architecture patterns, and established a stronger foundation for global SaaS growth.</a:t>
            </a:r>
          </a:p>
          <a:p>
            <a:endParaRPr lang="en-US" dirty="0"/>
          </a:p>
          <a:p>
            <a:r>
              <a:rPr lang="en-US" dirty="0"/>
              <a:t>More importantly, these efforts created alignment across business, engineering, operations, and regulatory stakeholders, enabling more consistent decision making and execution at scale.</a:t>
            </a:r>
          </a:p>
          <a:p>
            <a:endParaRPr lang="en-US" dirty="0"/>
          </a:p>
          <a:p>
            <a:r>
              <a:rPr lang="en-US" dirty="0"/>
              <a:t>Looking ahead, I see an opportunity to build on that foundation in four areas.</a:t>
            </a:r>
          </a:p>
          <a:p>
            <a:endParaRPr lang="en-US" dirty="0"/>
          </a:p>
          <a:p>
            <a:r>
              <a:rPr lang="en-US" dirty="0"/>
              <a:t>First, accelerating AI transformation by embedding generative AI capabilities throughout the engineering lifecycle to improve productivity and innovation.</a:t>
            </a:r>
          </a:p>
          <a:p>
            <a:endParaRPr lang="en-US" dirty="0"/>
          </a:p>
          <a:p>
            <a:r>
              <a:rPr lang="en-US" dirty="0"/>
              <a:t>Second, expanding platform adoption and cloud-native capabilities to further simplify delivery and reduce legacy complexity.</a:t>
            </a:r>
          </a:p>
          <a:p>
            <a:endParaRPr lang="en-US" dirty="0"/>
          </a:p>
          <a:p>
            <a:r>
              <a:rPr lang="en-US" dirty="0"/>
              <a:t>Third, cultivating technical leadership by mentoring architects and helping build a capability-first engineering culture.</a:t>
            </a:r>
          </a:p>
          <a:p>
            <a:endParaRPr lang="en-US" dirty="0"/>
          </a:p>
          <a:p>
            <a:r>
              <a:rPr lang="en-US" dirty="0"/>
              <a:t>And finally, continuing to bridge business strategy and technology execution to ensure platform investments directly support growth and customer outcomes.</a:t>
            </a:r>
          </a:p>
          <a:p>
            <a:endParaRPr lang="en-US" dirty="0"/>
          </a:p>
          <a:p>
            <a:r>
              <a:rPr lang="en-US" dirty="0"/>
              <a:t>My focus is no longer just on delivering solutions, but on shaping the technical capabilities and organizational systems that enable the company to scale."</a:t>
            </a:r>
          </a:p>
          <a:p>
            <a:endParaRPr lang="en-US" dirty="0"/>
          </a:p>
        </p:txBody>
      </p:sp>
      <p:sp>
        <p:nvSpPr>
          <p:cNvPr id="4" name="Slide Number Placeholder 3">
            <a:extLst>
              <a:ext uri="{FF2B5EF4-FFF2-40B4-BE49-F238E27FC236}">
                <a16:creationId xmlns:a16="http://schemas.microsoft.com/office/drawing/2014/main" id="{F549FBD7-2D33-0046-81BA-F8BDBBD02413}"/>
              </a:ext>
            </a:extLst>
          </p:cNvPr>
          <p:cNvSpPr>
            <a:spLocks noGrp="1"/>
          </p:cNvSpPr>
          <p:nvPr>
            <p:ph type="sldNum" sz="quarter" idx="5"/>
          </p:nvPr>
        </p:nvSpPr>
        <p:spPr/>
        <p:txBody>
          <a:bodyPr/>
          <a:lstStyle/>
          <a:p>
            <a:fld id="{7A11483B-A107-4A2E-9649-F66B9B80EEF6}" type="slidenum">
              <a:rPr lang="en-US" smtClean="0"/>
              <a:t>4</a:t>
            </a:fld>
            <a:endParaRPr lang="en-US" dirty="0"/>
          </a:p>
        </p:txBody>
      </p:sp>
    </p:spTree>
    <p:extLst>
      <p:ext uri="{BB962C8B-B14F-4D97-AF65-F5344CB8AC3E}">
        <p14:creationId xmlns:p14="http://schemas.microsoft.com/office/powerpoint/2010/main" val="4299160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the opportunity to share my journey and impact. Across these initiatives, my focus has evolved from delivering technical solutions to building enterprise capabilities, aligning stakeholders, and creating scalable foundations for future growth. I'm excited to continue expanding that impact and helping shape the organization's next phase of platform and technology evolution. I'm happy to take any questions.</a:t>
            </a:r>
          </a:p>
        </p:txBody>
      </p:sp>
      <p:sp>
        <p:nvSpPr>
          <p:cNvPr id="4" name="Slide Number Placeholder 3"/>
          <p:cNvSpPr>
            <a:spLocks noGrp="1"/>
          </p:cNvSpPr>
          <p:nvPr>
            <p:ph type="sldNum" sz="quarter" idx="5"/>
          </p:nvPr>
        </p:nvSpPr>
        <p:spPr/>
        <p:txBody>
          <a:bodyPr/>
          <a:lstStyle/>
          <a:p>
            <a:fld id="{072A352D-C215-4D80-858A-6DE784FCC1C6}" type="slidenum">
              <a:rPr lang="en-US" smtClean="0"/>
              <a:t>5</a:t>
            </a:fld>
            <a:endParaRPr lang="en-US" dirty="0"/>
          </a:p>
        </p:txBody>
      </p:sp>
    </p:spTree>
    <p:extLst>
      <p:ext uri="{BB962C8B-B14F-4D97-AF65-F5344CB8AC3E}">
        <p14:creationId xmlns:p14="http://schemas.microsoft.com/office/powerpoint/2010/main" val="13572083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D176A5-F42A-114A-5E09-0645512C74C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CA3D75B-F709-615D-9266-218EE156347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2A89BFA-6638-C77C-76C3-2E4896074E74}"/>
              </a:ext>
            </a:extLst>
          </p:cNvPr>
          <p:cNvSpPr>
            <a:spLocks noGrp="1"/>
          </p:cNvSpPr>
          <p:nvPr>
            <p:ph type="dt" sz="half" idx="10"/>
          </p:nvPr>
        </p:nvSpPr>
        <p:spPr/>
        <p:txBody>
          <a:bodyPr/>
          <a:lstStyle/>
          <a:p>
            <a:fld id="{E46013B5-D7A0-4705-81C6-CEFA9FF7ABCE}" type="datetimeFigureOut">
              <a:rPr lang="en-US" smtClean="0"/>
              <a:t>6/7/2026</a:t>
            </a:fld>
            <a:endParaRPr lang="en-US"/>
          </a:p>
        </p:txBody>
      </p:sp>
      <p:sp>
        <p:nvSpPr>
          <p:cNvPr id="5" name="Footer Placeholder 4">
            <a:extLst>
              <a:ext uri="{FF2B5EF4-FFF2-40B4-BE49-F238E27FC236}">
                <a16:creationId xmlns:a16="http://schemas.microsoft.com/office/drawing/2014/main" id="{1D9EBA9F-9257-B851-F952-D771719854D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4421092-D8B5-7A86-F578-AEC0E7FC6D07}"/>
              </a:ext>
            </a:extLst>
          </p:cNvPr>
          <p:cNvSpPr>
            <a:spLocks noGrp="1"/>
          </p:cNvSpPr>
          <p:nvPr>
            <p:ph type="sldNum" sz="quarter" idx="12"/>
          </p:nvPr>
        </p:nvSpPr>
        <p:spPr/>
        <p:txBody>
          <a:bodyPr/>
          <a:lstStyle/>
          <a:p>
            <a:fld id="{E58143B4-4491-414E-9667-1F65F2D5EC8A}" type="slidenum">
              <a:rPr lang="en-US" smtClean="0"/>
              <a:t>‹#›</a:t>
            </a:fld>
            <a:endParaRPr lang="en-US"/>
          </a:p>
        </p:txBody>
      </p:sp>
    </p:spTree>
    <p:extLst>
      <p:ext uri="{BB962C8B-B14F-4D97-AF65-F5344CB8AC3E}">
        <p14:creationId xmlns:p14="http://schemas.microsoft.com/office/powerpoint/2010/main" val="18039965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DDA4D3-CFA7-634C-004B-2C152FB60F8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2DB5A8B-C55A-DEED-4DC0-9642CB6D3C5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2F2891A-70A3-7D04-4219-99B32016D48E}"/>
              </a:ext>
            </a:extLst>
          </p:cNvPr>
          <p:cNvSpPr>
            <a:spLocks noGrp="1"/>
          </p:cNvSpPr>
          <p:nvPr>
            <p:ph type="dt" sz="half" idx="10"/>
          </p:nvPr>
        </p:nvSpPr>
        <p:spPr/>
        <p:txBody>
          <a:bodyPr/>
          <a:lstStyle/>
          <a:p>
            <a:fld id="{E46013B5-D7A0-4705-81C6-CEFA9FF7ABCE}" type="datetimeFigureOut">
              <a:rPr lang="en-US" smtClean="0"/>
              <a:t>6/7/2026</a:t>
            </a:fld>
            <a:endParaRPr lang="en-US"/>
          </a:p>
        </p:txBody>
      </p:sp>
      <p:sp>
        <p:nvSpPr>
          <p:cNvPr id="5" name="Footer Placeholder 4">
            <a:extLst>
              <a:ext uri="{FF2B5EF4-FFF2-40B4-BE49-F238E27FC236}">
                <a16:creationId xmlns:a16="http://schemas.microsoft.com/office/drawing/2014/main" id="{A19AE68B-E957-E71A-C1DB-D1F7F200B25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784A004-D785-58B5-B204-4503BE909223}"/>
              </a:ext>
            </a:extLst>
          </p:cNvPr>
          <p:cNvSpPr>
            <a:spLocks noGrp="1"/>
          </p:cNvSpPr>
          <p:nvPr>
            <p:ph type="sldNum" sz="quarter" idx="12"/>
          </p:nvPr>
        </p:nvSpPr>
        <p:spPr/>
        <p:txBody>
          <a:bodyPr/>
          <a:lstStyle/>
          <a:p>
            <a:fld id="{E58143B4-4491-414E-9667-1F65F2D5EC8A}" type="slidenum">
              <a:rPr lang="en-US" smtClean="0"/>
              <a:t>‹#›</a:t>
            </a:fld>
            <a:endParaRPr lang="en-US"/>
          </a:p>
        </p:txBody>
      </p:sp>
    </p:spTree>
    <p:extLst>
      <p:ext uri="{BB962C8B-B14F-4D97-AF65-F5344CB8AC3E}">
        <p14:creationId xmlns:p14="http://schemas.microsoft.com/office/powerpoint/2010/main" val="21528403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A80C74-FC56-171A-7673-7981E660045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F999191-6D91-3353-3DDF-D6EE612D8EF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3D17ED1-285D-5EA0-E647-3B6BF46EED31}"/>
              </a:ext>
            </a:extLst>
          </p:cNvPr>
          <p:cNvSpPr>
            <a:spLocks noGrp="1"/>
          </p:cNvSpPr>
          <p:nvPr>
            <p:ph type="dt" sz="half" idx="10"/>
          </p:nvPr>
        </p:nvSpPr>
        <p:spPr/>
        <p:txBody>
          <a:bodyPr/>
          <a:lstStyle/>
          <a:p>
            <a:fld id="{E46013B5-D7A0-4705-81C6-CEFA9FF7ABCE}" type="datetimeFigureOut">
              <a:rPr lang="en-US" smtClean="0"/>
              <a:t>6/7/2026</a:t>
            </a:fld>
            <a:endParaRPr lang="en-US"/>
          </a:p>
        </p:txBody>
      </p:sp>
      <p:sp>
        <p:nvSpPr>
          <p:cNvPr id="5" name="Footer Placeholder 4">
            <a:extLst>
              <a:ext uri="{FF2B5EF4-FFF2-40B4-BE49-F238E27FC236}">
                <a16:creationId xmlns:a16="http://schemas.microsoft.com/office/drawing/2014/main" id="{36F97B3E-1311-56E5-883F-F3AFD2390BB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86DEC90-1DCE-C23B-6147-C146597BB08E}"/>
              </a:ext>
            </a:extLst>
          </p:cNvPr>
          <p:cNvSpPr>
            <a:spLocks noGrp="1"/>
          </p:cNvSpPr>
          <p:nvPr>
            <p:ph type="sldNum" sz="quarter" idx="12"/>
          </p:nvPr>
        </p:nvSpPr>
        <p:spPr/>
        <p:txBody>
          <a:bodyPr/>
          <a:lstStyle/>
          <a:p>
            <a:fld id="{E58143B4-4491-414E-9667-1F65F2D5EC8A}" type="slidenum">
              <a:rPr lang="en-US" smtClean="0"/>
              <a:t>‹#›</a:t>
            </a:fld>
            <a:endParaRPr lang="en-US"/>
          </a:p>
        </p:txBody>
      </p:sp>
    </p:spTree>
    <p:extLst>
      <p:ext uri="{BB962C8B-B14F-4D97-AF65-F5344CB8AC3E}">
        <p14:creationId xmlns:p14="http://schemas.microsoft.com/office/powerpoint/2010/main" val="17045838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8746EA-105D-4D7A-5751-67B62EF59D7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15D5009-D44E-F745-B78E-0E38C4A3C67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033039F-8EB7-6679-AAFF-00BD087B568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EBAC2D4-2E68-6959-07C6-926874357FFC}"/>
              </a:ext>
            </a:extLst>
          </p:cNvPr>
          <p:cNvSpPr>
            <a:spLocks noGrp="1"/>
          </p:cNvSpPr>
          <p:nvPr>
            <p:ph type="dt" sz="half" idx="10"/>
          </p:nvPr>
        </p:nvSpPr>
        <p:spPr/>
        <p:txBody>
          <a:bodyPr/>
          <a:lstStyle/>
          <a:p>
            <a:fld id="{E46013B5-D7A0-4705-81C6-CEFA9FF7ABCE}" type="datetimeFigureOut">
              <a:rPr lang="en-US" smtClean="0"/>
              <a:t>6/7/2026</a:t>
            </a:fld>
            <a:endParaRPr lang="en-US"/>
          </a:p>
        </p:txBody>
      </p:sp>
      <p:sp>
        <p:nvSpPr>
          <p:cNvPr id="6" name="Footer Placeholder 5">
            <a:extLst>
              <a:ext uri="{FF2B5EF4-FFF2-40B4-BE49-F238E27FC236}">
                <a16:creationId xmlns:a16="http://schemas.microsoft.com/office/drawing/2014/main" id="{7A49075C-79E9-C0B2-E428-80127A1EE2A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F1C4296-E3BB-64E2-0AEA-E2A92505A828}"/>
              </a:ext>
            </a:extLst>
          </p:cNvPr>
          <p:cNvSpPr>
            <a:spLocks noGrp="1"/>
          </p:cNvSpPr>
          <p:nvPr>
            <p:ph type="sldNum" sz="quarter" idx="12"/>
          </p:nvPr>
        </p:nvSpPr>
        <p:spPr/>
        <p:txBody>
          <a:bodyPr/>
          <a:lstStyle/>
          <a:p>
            <a:fld id="{E58143B4-4491-414E-9667-1F65F2D5EC8A}" type="slidenum">
              <a:rPr lang="en-US" smtClean="0"/>
              <a:t>‹#›</a:t>
            </a:fld>
            <a:endParaRPr lang="en-US"/>
          </a:p>
        </p:txBody>
      </p:sp>
    </p:spTree>
    <p:extLst>
      <p:ext uri="{BB962C8B-B14F-4D97-AF65-F5344CB8AC3E}">
        <p14:creationId xmlns:p14="http://schemas.microsoft.com/office/powerpoint/2010/main" val="40499525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CCA485-3846-64F9-D8B1-C065BA15039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1F21F4F-0E66-9765-FF67-AB8F2AE6EAA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8ADEE21-1193-DA63-1C86-1711D5F4A43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D7EE63A-AA34-82F9-2999-F893539F33B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199C461-C7DD-2A12-2DA1-CBF5085C2EF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AA31B15-BCFB-7D0A-ADB3-DAEAE8CE4C4F}"/>
              </a:ext>
            </a:extLst>
          </p:cNvPr>
          <p:cNvSpPr>
            <a:spLocks noGrp="1"/>
          </p:cNvSpPr>
          <p:nvPr>
            <p:ph type="dt" sz="half" idx="10"/>
          </p:nvPr>
        </p:nvSpPr>
        <p:spPr/>
        <p:txBody>
          <a:bodyPr/>
          <a:lstStyle/>
          <a:p>
            <a:fld id="{E46013B5-D7A0-4705-81C6-CEFA9FF7ABCE}" type="datetimeFigureOut">
              <a:rPr lang="en-US" smtClean="0"/>
              <a:t>6/7/2026</a:t>
            </a:fld>
            <a:endParaRPr lang="en-US"/>
          </a:p>
        </p:txBody>
      </p:sp>
      <p:sp>
        <p:nvSpPr>
          <p:cNvPr id="8" name="Footer Placeholder 7">
            <a:extLst>
              <a:ext uri="{FF2B5EF4-FFF2-40B4-BE49-F238E27FC236}">
                <a16:creationId xmlns:a16="http://schemas.microsoft.com/office/drawing/2014/main" id="{77D32D6F-5B7C-8169-0A12-FFA1E55945F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EFA37B7-1710-A7E5-42E3-DA5A3F74EF74}"/>
              </a:ext>
            </a:extLst>
          </p:cNvPr>
          <p:cNvSpPr>
            <a:spLocks noGrp="1"/>
          </p:cNvSpPr>
          <p:nvPr>
            <p:ph type="sldNum" sz="quarter" idx="12"/>
          </p:nvPr>
        </p:nvSpPr>
        <p:spPr/>
        <p:txBody>
          <a:bodyPr/>
          <a:lstStyle/>
          <a:p>
            <a:fld id="{E58143B4-4491-414E-9667-1F65F2D5EC8A}" type="slidenum">
              <a:rPr lang="en-US" smtClean="0"/>
              <a:t>‹#›</a:t>
            </a:fld>
            <a:endParaRPr lang="en-US"/>
          </a:p>
        </p:txBody>
      </p:sp>
    </p:spTree>
    <p:extLst>
      <p:ext uri="{BB962C8B-B14F-4D97-AF65-F5344CB8AC3E}">
        <p14:creationId xmlns:p14="http://schemas.microsoft.com/office/powerpoint/2010/main" val="37807271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1FCB8F-8DAC-C5C0-CDA0-327FF03E4FF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EE1752B-583B-112A-BFDD-49C3D28B7F1B}"/>
              </a:ext>
            </a:extLst>
          </p:cNvPr>
          <p:cNvSpPr>
            <a:spLocks noGrp="1"/>
          </p:cNvSpPr>
          <p:nvPr>
            <p:ph type="dt" sz="half" idx="10"/>
          </p:nvPr>
        </p:nvSpPr>
        <p:spPr/>
        <p:txBody>
          <a:bodyPr/>
          <a:lstStyle/>
          <a:p>
            <a:fld id="{E46013B5-D7A0-4705-81C6-CEFA9FF7ABCE}" type="datetimeFigureOut">
              <a:rPr lang="en-US" smtClean="0"/>
              <a:t>6/7/2026</a:t>
            </a:fld>
            <a:endParaRPr lang="en-US"/>
          </a:p>
        </p:txBody>
      </p:sp>
      <p:sp>
        <p:nvSpPr>
          <p:cNvPr id="4" name="Footer Placeholder 3">
            <a:extLst>
              <a:ext uri="{FF2B5EF4-FFF2-40B4-BE49-F238E27FC236}">
                <a16:creationId xmlns:a16="http://schemas.microsoft.com/office/drawing/2014/main" id="{6C544DA1-0764-38AA-BE88-21BD895BC36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2CA467A-046D-F044-A9AD-D71D59563737}"/>
              </a:ext>
            </a:extLst>
          </p:cNvPr>
          <p:cNvSpPr>
            <a:spLocks noGrp="1"/>
          </p:cNvSpPr>
          <p:nvPr>
            <p:ph type="sldNum" sz="quarter" idx="12"/>
          </p:nvPr>
        </p:nvSpPr>
        <p:spPr/>
        <p:txBody>
          <a:bodyPr/>
          <a:lstStyle/>
          <a:p>
            <a:fld id="{E58143B4-4491-414E-9667-1F65F2D5EC8A}" type="slidenum">
              <a:rPr lang="en-US" smtClean="0"/>
              <a:t>‹#›</a:t>
            </a:fld>
            <a:endParaRPr lang="en-US"/>
          </a:p>
        </p:txBody>
      </p:sp>
    </p:spTree>
    <p:extLst>
      <p:ext uri="{BB962C8B-B14F-4D97-AF65-F5344CB8AC3E}">
        <p14:creationId xmlns:p14="http://schemas.microsoft.com/office/powerpoint/2010/main" val="13315721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29C598D-C986-EE1F-17E5-94E32A9AE2B4}"/>
              </a:ext>
            </a:extLst>
          </p:cNvPr>
          <p:cNvSpPr>
            <a:spLocks noGrp="1"/>
          </p:cNvSpPr>
          <p:nvPr>
            <p:ph type="dt" sz="half" idx="10"/>
          </p:nvPr>
        </p:nvSpPr>
        <p:spPr/>
        <p:txBody>
          <a:bodyPr/>
          <a:lstStyle/>
          <a:p>
            <a:fld id="{E46013B5-D7A0-4705-81C6-CEFA9FF7ABCE}" type="datetimeFigureOut">
              <a:rPr lang="en-US" smtClean="0"/>
              <a:t>6/7/2026</a:t>
            </a:fld>
            <a:endParaRPr lang="en-US"/>
          </a:p>
        </p:txBody>
      </p:sp>
      <p:sp>
        <p:nvSpPr>
          <p:cNvPr id="3" name="Footer Placeholder 2">
            <a:extLst>
              <a:ext uri="{FF2B5EF4-FFF2-40B4-BE49-F238E27FC236}">
                <a16:creationId xmlns:a16="http://schemas.microsoft.com/office/drawing/2014/main" id="{D01A7B05-5668-7520-F16C-55EF746F0F7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442DD2D-F1EE-BB45-4710-6BCD1CA073A3}"/>
              </a:ext>
            </a:extLst>
          </p:cNvPr>
          <p:cNvSpPr>
            <a:spLocks noGrp="1"/>
          </p:cNvSpPr>
          <p:nvPr>
            <p:ph type="sldNum" sz="quarter" idx="12"/>
          </p:nvPr>
        </p:nvSpPr>
        <p:spPr/>
        <p:txBody>
          <a:bodyPr/>
          <a:lstStyle/>
          <a:p>
            <a:fld id="{E58143B4-4491-414E-9667-1F65F2D5EC8A}" type="slidenum">
              <a:rPr lang="en-US" smtClean="0"/>
              <a:t>‹#›</a:t>
            </a:fld>
            <a:endParaRPr lang="en-US"/>
          </a:p>
        </p:txBody>
      </p:sp>
    </p:spTree>
    <p:extLst>
      <p:ext uri="{BB962C8B-B14F-4D97-AF65-F5344CB8AC3E}">
        <p14:creationId xmlns:p14="http://schemas.microsoft.com/office/powerpoint/2010/main" val="38416382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541852-B4B0-CDC5-3FAE-6714D38F08A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89BBF04-E107-FC67-2DE6-8B33B6D12BC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E04BDC2-B3F0-B8F5-E296-A1E7D3EFE78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AFF3262-D20F-69C6-DB73-C6C09BCCACCB}"/>
              </a:ext>
            </a:extLst>
          </p:cNvPr>
          <p:cNvSpPr>
            <a:spLocks noGrp="1"/>
          </p:cNvSpPr>
          <p:nvPr>
            <p:ph type="dt" sz="half" idx="10"/>
          </p:nvPr>
        </p:nvSpPr>
        <p:spPr/>
        <p:txBody>
          <a:bodyPr/>
          <a:lstStyle/>
          <a:p>
            <a:fld id="{E46013B5-D7A0-4705-81C6-CEFA9FF7ABCE}" type="datetimeFigureOut">
              <a:rPr lang="en-US" smtClean="0"/>
              <a:t>6/7/2026</a:t>
            </a:fld>
            <a:endParaRPr lang="en-US"/>
          </a:p>
        </p:txBody>
      </p:sp>
      <p:sp>
        <p:nvSpPr>
          <p:cNvPr id="6" name="Footer Placeholder 5">
            <a:extLst>
              <a:ext uri="{FF2B5EF4-FFF2-40B4-BE49-F238E27FC236}">
                <a16:creationId xmlns:a16="http://schemas.microsoft.com/office/drawing/2014/main" id="{99E0ACD7-5EFA-1957-98DC-5D117EADA96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3016237-877E-253F-3294-CB917CD33753}"/>
              </a:ext>
            </a:extLst>
          </p:cNvPr>
          <p:cNvSpPr>
            <a:spLocks noGrp="1"/>
          </p:cNvSpPr>
          <p:nvPr>
            <p:ph type="sldNum" sz="quarter" idx="12"/>
          </p:nvPr>
        </p:nvSpPr>
        <p:spPr/>
        <p:txBody>
          <a:bodyPr/>
          <a:lstStyle/>
          <a:p>
            <a:fld id="{E58143B4-4491-414E-9667-1F65F2D5EC8A}" type="slidenum">
              <a:rPr lang="en-US" smtClean="0"/>
              <a:t>‹#›</a:t>
            </a:fld>
            <a:endParaRPr lang="en-US"/>
          </a:p>
        </p:txBody>
      </p:sp>
    </p:spTree>
    <p:extLst>
      <p:ext uri="{BB962C8B-B14F-4D97-AF65-F5344CB8AC3E}">
        <p14:creationId xmlns:p14="http://schemas.microsoft.com/office/powerpoint/2010/main" val="9094555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25BBDC-5A24-48EE-0C6E-366772EC3C0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5C0700A-BC64-C3B2-E35E-6CD13F8D34D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F911B7B-10F0-0A70-6CF8-70E3DB8664A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BB0F780-7315-021D-E044-DBC06AEC63CE}"/>
              </a:ext>
            </a:extLst>
          </p:cNvPr>
          <p:cNvSpPr>
            <a:spLocks noGrp="1"/>
          </p:cNvSpPr>
          <p:nvPr>
            <p:ph type="dt" sz="half" idx="10"/>
          </p:nvPr>
        </p:nvSpPr>
        <p:spPr/>
        <p:txBody>
          <a:bodyPr/>
          <a:lstStyle/>
          <a:p>
            <a:fld id="{E46013B5-D7A0-4705-81C6-CEFA9FF7ABCE}" type="datetimeFigureOut">
              <a:rPr lang="en-US" smtClean="0"/>
              <a:t>6/7/2026</a:t>
            </a:fld>
            <a:endParaRPr lang="en-US"/>
          </a:p>
        </p:txBody>
      </p:sp>
      <p:sp>
        <p:nvSpPr>
          <p:cNvPr id="6" name="Footer Placeholder 5">
            <a:extLst>
              <a:ext uri="{FF2B5EF4-FFF2-40B4-BE49-F238E27FC236}">
                <a16:creationId xmlns:a16="http://schemas.microsoft.com/office/drawing/2014/main" id="{A8BDFAEA-9DE9-54FA-550C-1E9B5F9DCAE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BE9DB54-E77E-FEE7-3BEF-8030A3C9BF39}"/>
              </a:ext>
            </a:extLst>
          </p:cNvPr>
          <p:cNvSpPr>
            <a:spLocks noGrp="1"/>
          </p:cNvSpPr>
          <p:nvPr>
            <p:ph type="sldNum" sz="quarter" idx="12"/>
          </p:nvPr>
        </p:nvSpPr>
        <p:spPr/>
        <p:txBody>
          <a:bodyPr/>
          <a:lstStyle/>
          <a:p>
            <a:fld id="{E58143B4-4491-414E-9667-1F65F2D5EC8A}" type="slidenum">
              <a:rPr lang="en-US" smtClean="0"/>
              <a:t>‹#›</a:t>
            </a:fld>
            <a:endParaRPr lang="en-US"/>
          </a:p>
        </p:txBody>
      </p:sp>
    </p:spTree>
    <p:extLst>
      <p:ext uri="{BB962C8B-B14F-4D97-AF65-F5344CB8AC3E}">
        <p14:creationId xmlns:p14="http://schemas.microsoft.com/office/powerpoint/2010/main" val="6549309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F9F034-0CD3-7093-2AA0-436E9DF2610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BFDBAF1-F122-BD0D-2863-B4ABAF656BC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9A91A9E-393B-0BC7-CB7B-02FD7C49CA38}"/>
              </a:ext>
            </a:extLst>
          </p:cNvPr>
          <p:cNvSpPr>
            <a:spLocks noGrp="1"/>
          </p:cNvSpPr>
          <p:nvPr>
            <p:ph type="dt" sz="half" idx="10"/>
          </p:nvPr>
        </p:nvSpPr>
        <p:spPr/>
        <p:txBody>
          <a:bodyPr/>
          <a:lstStyle/>
          <a:p>
            <a:fld id="{E46013B5-D7A0-4705-81C6-CEFA9FF7ABCE}" type="datetimeFigureOut">
              <a:rPr lang="en-US" smtClean="0"/>
              <a:t>6/7/2026</a:t>
            </a:fld>
            <a:endParaRPr lang="en-US"/>
          </a:p>
        </p:txBody>
      </p:sp>
      <p:sp>
        <p:nvSpPr>
          <p:cNvPr id="5" name="Footer Placeholder 4">
            <a:extLst>
              <a:ext uri="{FF2B5EF4-FFF2-40B4-BE49-F238E27FC236}">
                <a16:creationId xmlns:a16="http://schemas.microsoft.com/office/drawing/2014/main" id="{6CCC3F75-BC1F-E380-2D02-A2EAFC3F9FA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4AF350F-EDB1-E39E-9A25-5E6614E9E869}"/>
              </a:ext>
            </a:extLst>
          </p:cNvPr>
          <p:cNvSpPr>
            <a:spLocks noGrp="1"/>
          </p:cNvSpPr>
          <p:nvPr>
            <p:ph type="sldNum" sz="quarter" idx="12"/>
          </p:nvPr>
        </p:nvSpPr>
        <p:spPr/>
        <p:txBody>
          <a:bodyPr/>
          <a:lstStyle/>
          <a:p>
            <a:fld id="{E58143B4-4491-414E-9667-1F65F2D5EC8A}" type="slidenum">
              <a:rPr lang="en-US" smtClean="0"/>
              <a:t>‹#›</a:t>
            </a:fld>
            <a:endParaRPr lang="en-US"/>
          </a:p>
        </p:txBody>
      </p:sp>
    </p:spTree>
    <p:extLst>
      <p:ext uri="{BB962C8B-B14F-4D97-AF65-F5344CB8AC3E}">
        <p14:creationId xmlns:p14="http://schemas.microsoft.com/office/powerpoint/2010/main" val="16719041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EDD0C02-CA05-1C5F-56DB-0D2A2433105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9F1BCA0-9B70-4052-6D15-3989CF2A527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5DEFBFA-0DDF-9CC7-96B6-796BE2B54B50}"/>
              </a:ext>
            </a:extLst>
          </p:cNvPr>
          <p:cNvSpPr>
            <a:spLocks noGrp="1"/>
          </p:cNvSpPr>
          <p:nvPr>
            <p:ph type="dt" sz="half" idx="10"/>
          </p:nvPr>
        </p:nvSpPr>
        <p:spPr/>
        <p:txBody>
          <a:bodyPr/>
          <a:lstStyle/>
          <a:p>
            <a:fld id="{E46013B5-D7A0-4705-81C6-CEFA9FF7ABCE}" type="datetimeFigureOut">
              <a:rPr lang="en-US" smtClean="0"/>
              <a:t>6/7/2026</a:t>
            </a:fld>
            <a:endParaRPr lang="en-US"/>
          </a:p>
        </p:txBody>
      </p:sp>
      <p:sp>
        <p:nvSpPr>
          <p:cNvPr id="5" name="Footer Placeholder 4">
            <a:extLst>
              <a:ext uri="{FF2B5EF4-FFF2-40B4-BE49-F238E27FC236}">
                <a16:creationId xmlns:a16="http://schemas.microsoft.com/office/drawing/2014/main" id="{CBEEFCAD-A3B4-88A6-BA03-1F23CFBB15E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6FB1EB4-0090-E5F4-977E-40305734DBEC}"/>
              </a:ext>
            </a:extLst>
          </p:cNvPr>
          <p:cNvSpPr>
            <a:spLocks noGrp="1"/>
          </p:cNvSpPr>
          <p:nvPr>
            <p:ph type="sldNum" sz="quarter" idx="12"/>
          </p:nvPr>
        </p:nvSpPr>
        <p:spPr/>
        <p:txBody>
          <a:bodyPr/>
          <a:lstStyle/>
          <a:p>
            <a:fld id="{E58143B4-4491-414E-9667-1F65F2D5EC8A}" type="slidenum">
              <a:rPr lang="en-US" smtClean="0"/>
              <a:t>‹#›</a:t>
            </a:fld>
            <a:endParaRPr lang="en-US"/>
          </a:p>
        </p:txBody>
      </p:sp>
    </p:spTree>
    <p:extLst>
      <p:ext uri="{BB962C8B-B14F-4D97-AF65-F5344CB8AC3E}">
        <p14:creationId xmlns:p14="http://schemas.microsoft.com/office/powerpoint/2010/main" val="9612631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495006A-97A7-8D39-647D-E28C586F543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5338A34-F0CC-3F82-8D74-F82DFEB8E3B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B179583-8E77-1D42-2E59-D9239D3EA27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46013B5-D7A0-4705-81C6-CEFA9FF7ABCE}" type="datetimeFigureOut">
              <a:rPr lang="en-US" smtClean="0"/>
              <a:t>6/7/2026</a:t>
            </a:fld>
            <a:endParaRPr lang="en-US"/>
          </a:p>
        </p:txBody>
      </p:sp>
      <p:sp>
        <p:nvSpPr>
          <p:cNvPr id="5" name="Footer Placeholder 4">
            <a:extLst>
              <a:ext uri="{FF2B5EF4-FFF2-40B4-BE49-F238E27FC236}">
                <a16:creationId xmlns:a16="http://schemas.microsoft.com/office/drawing/2014/main" id="{B6BCC6B8-B6E5-383E-4594-E11C3DA7B30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B6D5CDAE-63CD-DD2B-9C7B-25575C3C336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58143B4-4491-414E-9667-1F65F2D5EC8A}" type="slidenum">
              <a:rPr lang="en-US" smtClean="0"/>
              <a:t>‹#›</a:t>
            </a:fld>
            <a:endParaRPr lang="en-US"/>
          </a:p>
        </p:txBody>
      </p:sp>
    </p:spTree>
    <p:extLst>
      <p:ext uri="{BB962C8B-B14F-4D97-AF65-F5344CB8AC3E}">
        <p14:creationId xmlns:p14="http://schemas.microsoft.com/office/powerpoint/2010/main" val="37984502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6181827-28B5-1504-5243-BA8C2E630B4E}"/>
              </a:ext>
            </a:extLst>
          </p:cNvPr>
          <p:cNvSpPr txBox="1"/>
          <p:nvPr/>
        </p:nvSpPr>
        <p:spPr>
          <a:xfrm>
            <a:off x="747445" y="474217"/>
            <a:ext cx="10317822" cy="5730287"/>
          </a:xfrm>
          <a:prstGeom prst="rect">
            <a:avLst/>
          </a:prstGeom>
          <a:noFill/>
        </p:spPr>
        <p:txBody>
          <a:bodyPr wrap="square">
            <a:spAutoFit/>
          </a:bodyPr>
          <a:lstStyle/>
          <a:p>
            <a:pPr marL="0" marR="0">
              <a:lnSpc>
                <a:spcPct val="115000"/>
              </a:lnSpc>
              <a:spcAft>
                <a:spcPts val="800"/>
              </a:spcAft>
              <a:buNone/>
            </a:pPr>
            <a:r>
              <a:rPr lang="en-US" sz="3200" b="1" kern="100" dirty="0">
                <a:effectLst/>
                <a:latin typeface="Calibri" panose="020F0502020204030204" pitchFamily="34" charset="0"/>
                <a:ea typeface="Calibri" panose="020F0502020204030204" pitchFamily="34" charset="0"/>
                <a:cs typeface="Times New Roman" panose="02020603050405020304" pitchFamily="18" charset="0"/>
              </a:rPr>
              <a:t>MANJUNATH</a:t>
            </a:r>
            <a:endParaRPr lang="en-US" sz="32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800"/>
              </a:spcAft>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Architect  | </a:t>
            </a:r>
            <a:r>
              <a:rPr lang="en-US" b="1" kern="100" dirty="0">
                <a:latin typeface="Calibri" panose="020F0502020204030204" pitchFamily="34" charset="0"/>
                <a:ea typeface="Calibri" panose="020F0502020204030204" pitchFamily="34" charset="0"/>
                <a:cs typeface="Times New Roman" panose="02020603050405020304" pitchFamily="18" charset="0"/>
              </a:rPr>
              <a:t>Azure Solutions Architect Expert</a:t>
            </a:r>
          </a:p>
          <a:p>
            <a:pPr>
              <a:lnSpc>
                <a:spcPct val="115000"/>
              </a:lnSpc>
              <a:spcAft>
                <a:spcPts val="800"/>
              </a:spcAft>
            </a:pPr>
            <a:r>
              <a:rPr lang="en-US" dirty="0"/>
              <a:t>16+ Years | 6 Years at Firm</a:t>
            </a:r>
          </a:p>
          <a:p>
            <a:pPr>
              <a:lnSpc>
                <a:spcPct val="115000"/>
              </a:lnSpc>
              <a:spcAft>
                <a:spcPts val="800"/>
              </a:spcAft>
            </a:pP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2000" b="1" kern="100" dirty="0">
                <a:effectLst/>
                <a:latin typeface="Calibri" panose="020F0502020204030204" pitchFamily="34" charset="0"/>
                <a:ea typeface="Calibri" panose="020F0502020204030204" pitchFamily="34" charset="0"/>
                <a:cs typeface="Times New Roman" panose="02020603050405020304" pitchFamily="18" charset="0"/>
              </a:rPr>
              <a:t>LEADERSHIP</a:t>
            </a:r>
            <a:endParaRPr lang="en-US" sz="2000" kern="100" dirty="0">
              <a:effectLst/>
              <a:latin typeface="Calibri" panose="020F0502020204030204" pitchFamily="34" charset="0"/>
              <a:ea typeface="Calibri" panose="020F0502020204030204" pitchFamily="34" charset="0"/>
              <a:cs typeface="Times New Roman" panose="02020603050405020304" pitchFamily="18" charset="0"/>
            </a:endParaRPr>
          </a:p>
          <a:p>
            <a:r>
              <a:rPr lang="en-US" dirty="0"/>
              <a:t>Building teams and engineering excellence</a:t>
            </a:r>
          </a:p>
          <a:p>
            <a:pPr marL="0" marR="0">
              <a:lnSpc>
                <a:spcPct val="115000"/>
              </a:lnSpc>
              <a:spcAft>
                <a:spcPts val="800"/>
              </a:spcAft>
              <a:buNone/>
            </a:pPr>
            <a:endParaRPr lang="en-US" sz="1800" b="1"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2000" b="1" kern="100" dirty="0">
                <a:effectLst/>
                <a:latin typeface="Calibri" panose="020F0502020204030204" pitchFamily="34" charset="0"/>
                <a:ea typeface="Calibri" panose="020F0502020204030204" pitchFamily="34" charset="0"/>
                <a:cs typeface="Times New Roman" panose="02020603050405020304" pitchFamily="18" charset="0"/>
              </a:rPr>
              <a:t>TRANSFORMATION</a:t>
            </a:r>
            <a:endParaRPr lang="en-US" sz="2000" kern="100" dirty="0">
              <a:effectLst/>
              <a:latin typeface="Calibri" panose="020F0502020204030204" pitchFamily="34" charset="0"/>
              <a:ea typeface="Calibri" panose="020F0502020204030204" pitchFamily="34" charset="0"/>
              <a:cs typeface="Times New Roman" panose="02020603050405020304" pitchFamily="18" charset="0"/>
            </a:endParaRPr>
          </a:p>
          <a:p>
            <a:r>
              <a:rPr lang="en-US" dirty="0"/>
              <a:t>Driving cloud, platform, and AI modernization</a:t>
            </a:r>
          </a:p>
          <a:p>
            <a:endParaRPr lang="en-US" dirty="0"/>
          </a:p>
          <a:p>
            <a:pPr marL="0" marR="0">
              <a:lnSpc>
                <a:spcPct val="115000"/>
              </a:lnSpc>
              <a:spcAft>
                <a:spcPts val="800"/>
              </a:spcAft>
              <a:buNone/>
            </a:pPr>
            <a:r>
              <a:rPr lang="en-US" sz="2000" b="1" kern="100" dirty="0">
                <a:effectLst/>
                <a:latin typeface="Calibri" panose="020F0502020204030204" pitchFamily="34" charset="0"/>
                <a:ea typeface="Calibri" panose="020F0502020204030204" pitchFamily="34" charset="0"/>
                <a:cs typeface="Times New Roman" panose="02020603050405020304" pitchFamily="18" charset="0"/>
              </a:rPr>
              <a:t>BUSINESS IMPACT</a:t>
            </a:r>
            <a:endParaRPr lang="en-US"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800"/>
              </a:spcAft>
            </a:pPr>
            <a:r>
              <a:rPr lang="en-US" dirty="0"/>
              <a:t>Aligning technology execution with business outcomes</a:t>
            </a:r>
          </a:p>
          <a:p>
            <a:pPr>
              <a:lnSpc>
                <a:spcPct val="115000"/>
              </a:lnSpc>
              <a:spcAft>
                <a:spcPts val="800"/>
              </a:spcAft>
            </a:pP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r>
              <a:rPr lang="en-US" b="1" dirty="0"/>
              <a:t>Evolving from Solution Architecture to Enterprise Engineering Leadership</a:t>
            </a:r>
            <a:endParaRPr lang="en-US" dirty="0"/>
          </a:p>
        </p:txBody>
      </p:sp>
      <p:cxnSp>
        <p:nvCxnSpPr>
          <p:cNvPr id="5" name="Straight Connector 4">
            <a:extLst>
              <a:ext uri="{FF2B5EF4-FFF2-40B4-BE49-F238E27FC236}">
                <a16:creationId xmlns:a16="http://schemas.microsoft.com/office/drawing/2014/main" id="{2515048A-3F21-B5B8-5B37-7276D77370B6}"/>
              </a:ext>
            </a:extLst>
          </p:cNvPr>
          <p:cNvCxnSpPr>
            <a:cxnSpLocks/>
          </p:cNvCxnSpPr>
          <p:nvPr/>
        </p:nvCxnSpPr>
        <p:spPr>
          <a:xfrm>
            <a:off x="852755" y="2147299"/>
            <a:ext cx="10212512" cy="0"/>
          </a:xfrm>
          <a:prstGeom prst="line">
            <a:avLst/>
          </a:prstGeom>
        </p:spPr>
        <p:style>
          <a:lnRef idx="1">
            <a:schemeClr val="dk1"/>
          </a:lnRef>
          <a:fillRef idx="0">
            <a:schemeClr val="dk1"/>
          </a:fillRef>
          <a:effectRef idx="0">
            <a:schemeClr val="dk1"/>
          </a:effectRef>
          <a:fontRef idx="minor">
            <a:schemeClr val="tx1"/>
          </a:fontRef>
        </p:style>
      </p:cxnSp>
      <p:cxnSp>
        <p:nvCxnSpPr>
          <p:cNvPr id="6" name="Straight Connector 5">
            <a:extLst>
              <a:ext uri="{FF2B5EF4-FFF2-40B4-BE49-F238E27FC236}">
                <a16:creationId xmlns:a16="http://schemas.microsoft.com/office/drawing/2014/main" id="{08B0786D-BE11-5D6E-FFD7-AB71650BB68D}"/>
              </a:ext>
            </a:extLst>
          </p:cNvPr>
          <p:cNvCxnSpPr>
            <a:cxnSpLocks/>
          </p:cNvCxnSpPr>
          <p:nvPr/>
        </p:nvCxnSpPr>
        <p:spPr>
          <a:xfrm>
            <a:off x="852755" y="5484681"/>
            <a:ext cx="10212512" cy="0"/>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4273184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6E4774-DAEB-BF8A-2393-B2BEDB09E5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16D9AC-ECA8-4BA5-4213-BD4E4CE480A8}"/>
              </a:ext>
            </a:extLst>
          </p:cNvPr>
          <p:cNvSpPr>
            <a:spLocks noGrp="1"/>
          </p:cNvSpPr>
          <p:nvPr>
            <p:ph type="title"/>
          </p:nvPr>
        </p:nvSpPr>
        <p:spPr>
          <a:xfrm>
            <a:off x="651015" y="213145"/>
            <a:ext cx="10738441" cy="1434406"/>
          </a:xfrm>
          <a:solidFill>
            <a:schemeClr val="bg1"/>
          </a:solidFill>
        </p:spPr>
        <p:txBody>
          <a:bodyPr>
            <a:normAutofit/>
          </a:bodyPr>
          <a:lstStyle/>
          <a:p>
            <a:r>
              <a:rPr lang="en-US" sz="3200" b="1" dirty="0"/>
              <a:t>Scaling Impact Beyond Application Delivery to Enterprise-Wide Capability Building</a:t>
            </a:r>
            <a:endParaRPr lang="en-US" sz="3200" dirty="0"/>
          </a:p>
        </p:txBody>
      </p:sp>
      <p:sp>
        <p:nvSpPr>
          <p:cNvPr id="6" name="Rectangle 5">
            <a:extLst>
              <a:ext uri="{FF2B5EF4-FFF2-40B4-BE49-F238E27FC236}">
                <a16:creationId xmlns:a16="http://schemas.microsoft.com/office/drawing/2014/main" id="{0C4BD172-E825-E35A-3386-A295AC983556}"/>
              </a:ext>
            </a:extLst>
          </p:cNvPr>
          <p:cNvSpPr/>
          <p:nvPr/>
        </p:nvSpPr>
        <p:spPr>
          <a:xfrm>
            <a:off x="698817" y="2250041"/>
            <a:ext cx="2452797" cy="3462390"/>
          </a:xfrm>
          <a:prstGeom prst="rect">
            <a:avLst/>
          </a:prstGeom>
          <a:solidFill>
            <a:schemeClr val="accent3">
              <a:lumMod val="20000"/>
              <a:lumOff val="80000"/>
            </a:schemeClr>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p>
          <a:p>
            <a:pPr algn="ctr"/>
            <a:endParaRPr lang="en-US" sz="1400" dirty="0"/>
          </a:p>
          <a:p>
            <a:pPr algn="ctr"/>
            <a:endParaRPr lang="en-US" sz="1400" dirty="0"/>
          </a:p>
          <a:p>
            <a:pPr algn="ctr"/>
            <a:endParaRPr lang="en-US" dirty="0">
              <a:solidFill>
                <a:schemeClr val="tx1"/>
              </a:solidFill>
            </a:endParaRPr>
          </a:p>
          <a:p>
            <a:r>
              <a:rPr lang="en-US" sz="2000" dirty="0">
                <a:solidFill>
                  <a:schemeClr val="tx1"/>
                </a:solidFill>
              </a:rPr>
              <a:t>Created reusable cloud deployment patterns and operating models that accelerated enterprise cloud adoption.</a:t>
            </a:r>
          </a:p>
        </p:txBody>
      </p:sp>
      <p:sp>
        <p:nvSpPr>
          <p:cNvPr id="10" name="TextBox 9">
            <a:extLst>
              <a:ext uri="{FF2B5EF4-FFF2-40B4-BE49-F238E27FC236}">
                <a16:creationId xmlns:a16="http://schemas.microsoft.com/office/drawing/2014/main" id="{6C4392F9-B1BC-94A2-E0B0-EBA30DD1C662}"/>
              </a:ext>
            </a:extLst>
          </p:cNvPr>
          <p:cNvSpPr txBox="1"/>
          <p:nvPr/>
        </p:nvSpPr>
        <p:spPr>
          <a:xfrm>
            <a:off x="698817" y="2229315"/>
            <a:ext cx="2321104" cy="707886"/>
          </a:xfrm>
          <a:prstGeom prst="rect">
            <a:avLst/>
          </a:prstGeom>
          <a:noFill/>
        </p:spPr>
        <p:txBody>
          <a:bodyPr wrap="square" rtlCol="0">
            <a:spAutoFit/>
          </a:bodyPr>
          <a:lstStyle/>
          <a:p>
            <a:r>
              <a:rPr lang="en-US" sz="2000" b="1" dirty="0"/>
              <a:t>PLATFORM LEADERSHIP</a:t>
            </a:r>
          </a:p>
        </p:txBody>
      </p:sp>
      <p:sp>
        <p:nvSpPr>
          <p:cNvPr id="11" name="Rectangle 10">
            <a:extLst>
              <a:ext uri="{FF2B5EF4-FFF2-40B4-BE49-F238E27FC236}">
                <a16:creationId xmlns:a16="http://schemas.microsoft.com/office/drawing/2014/main" id="{C1718F61-38F6-91BC-DCED-7354DA25E0A0}"/>
              </a:ext>
            </a:extLst>
          </p:cNvPr>
          <p:cNvSpPr/>
          <p:nvPr/>
        </p:nvSpPr>
        <p:spPr>
          <a:xfrm>
            <a:off x="3270783" y="2229315"/>
            <a:ext cx="2452796" cy="3483115"/>
          </a:xfrm>
          <a:prstGeom prst="rect">
            <a:avLst/>
          </a:prstGeom>
          <a:solidFill>
            <a:schemeClr val="accent3">
              <a:lumMod val="20000"/>
              <a:lumOff val="80000"/>
            </a:schemeClr>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endParaRPr lang="en-US" sz="1400" dirty="0">
              <a:solidFill>
                <a:schemeClr val="tx1"/>
              </a:solidFill>
            </a:endParaRPr>
          </a:p>
          <a:p>
            <a:pPr algn="just"/>
            <a:endParaRPr lang="en-US" sz="1400" dirty="0">
              <a:solidFill>
                <a:schemeClr val="tx1"/>
              </a:solidFill>
            </a:endParaRPr>
          </a:p>
          <a:p>
            <a:pPr algn="just"/>
            <a:endParaRPr lang="en-US" dirty="0">
              <a:solidFill>
                <a:schemeClr val="tx1"/>
              </a:solidFill>
            </a:endParaRPr>
          </a:p>
          <a:p>
            <a:r>
              <a:rPr lang="en-US" sz="2000" dirty="0">
                <a:solidFill>
                  <a:schemeClr val="tx1"/>
                </a:solidFill>
              </a:rPr>
              <a:t>Defined architecture standards enabling a single global SaaS operating model across regions.</a:t>
            </a:r>
          </a:p>
          <a:p>
            <a:endParaRPr lang="en-US" sz="2000" dirty="0">
              <a:solidFill>
                <a:schemeClr val="tx1"/>
              </a:solidFill>
            </a:endParaRPr>
          </a:p>
        </p:txBody>
      </p:sp>
      <p:sp>
        <p:nvSpPr>
          <p:cNvPr id="12" name="TextBox 11">
            <a:extLst>
              <a:ext uri="{FF2B5EF4-FFF2-40B4-BE49-F238E27FC236}">
                <a16:creationId xmlns:a16="http://schemas.microsoft.com/office/drawing/2014/main" id="{1E2F3EC6-1564-1434-18BF-9D5B7CC3E179}"/>
              </a:ext>
            </a:extLst>
          </p:cNvPr>
          <p:cNvSpPr txBox="1"/>
          <p:nvPr/>
        </p:nvSpPr>
        <p:spPr>
          <a:xfrm>
            <a:off x="3270783" y="2239587"/>
            <a:ext cx="2321104" cy="707886"/>
          </a:xfrm>
          <a:prstGeom prst="rect">
            <a:avLst/>
          </a:prstGeom>
          <a:noFill/>
        </p:spPr>
        <p:txBody>
          <a:bodyPr wrap="square" rtlCol="0">
            <a:spAutoFit/>
          </a:bodyPr>
          <a:lstStyle/>
          <a:p>
            <a:r>
              <a:rPr lang="en-US" sz="2000" b="1" dirty="0"/>
              <a:t>GLOBAL STANDARDIZATION</a:t>
            </a:r>
          </a:p>
        </p:txBody>
      </p:sp>
      <p:sp>
        <p:nvSpPr>
          <p:cNvPr id="13" name="Rectangle 12">
            <a:extLst>
              <a:ext uri="{FF2B5EF4-FFF2-40B4-BE49-F238E27FC236}">
                <a16:creationId xmlns:a16="http://schemas.microsoft.com/office/drawing/2014/main" id="{2F1BC2DA-F0F4-F984-C109-25C9E358784D}"/>
              </a:ext>
            </a:extLst>
          </p:cNvPr>
          <p:cNvSpPr/>
          <p:nvPr/>
        </p:nvSpPr>
        <p:spPr>
          <a:xfrm>
            <a:off x="5834344" y="2250041"/>
            <a:ext cx="2758767" cy="3462389"/>
          </a:xfrm>
          <a:prstGeom prst="rect">
            <a:avLst/>
          </a:prstGeom>
          <a:solidFill>
            <a:schemeClr val="accent3">
              <a:lumMod val="20000"/>
              <a:lumOff val="80000"/>
            </a:schemeClr>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400" dirty="0">
              <a:solidFill>
                <a:schemeClr val="tx1"/>
              </a:solidFill>
            </a:endParaRPr>
          </a:p>
          <a:p>
            <a:endParaRPr lang="en-US" sz="1400" dirty="0">
              <a:solidFill>
                <a:schemeClr val="tx1"/>
              </a:solidFill>
            </a:endParaRPr>
          </a:p>
          <a:p>
            <a:endParaRPr lang="en-US" sz="1400" dirty="0">
              <a:solidFill>
                <a:schemeClr val="tx1"/>
              </a:solidFill>
            </a:endParaRPr>
          </a:p>
          <a:p>
            <a:endParaRPr lang="en-US" sz="1400" dirty="0">
              <a:solidFill>
                <a:schemeClr val="tx1"/>
              </a:solidFill>
            </a:endParaRPr>
          </a:p>
          <a:p>
            <a:r>
              <a:rPr lang="en-US" sz="2000" dirty="0">
                <a:solidFill>
                  <a:schemeClr val="tx1"/>
                </a:solidFill>
              </a:rPr>
              <a:t>Partnered with enterprise architecture and AI leadership to align application roadmaps with future platform investments</a:t>
            </a:r>
            <a:r>
              <a:rPr lang="en-US" sz="2000" dirty="0"/>
              <a:t>.</a:t>
            </a:r>
          </a:p>
        </p:txBody>
      </p:sp>
      <p:sp>
        <p:nvSpPr>
          <p:cNvPr id="14" name="TextBox 13">
            <a:extLst>
              <a:ext uri="{FF2B5EF4-FFF2-40B4-BE49-F238E27FC236}">
                <a16:creationId xmlns:a16="http://schemas.microsoft.com/office/drawing/2014/main" id="{5B265AF1-C41B-2E11-F3DA-10181BCA71B7}"/>
              </a:ext>
            </a:extLst>
          </p:cNvPr>
          <p:cNvSpPr txBox="1"/>
          <p:nvPr/>
        </p:nvSpPr>
        <p:spPr>
          <a:xfrm>
            <a:off x="5834344" y="2218863"/>
            <a:ext cx="2758766" cy="1015663"/>
          </a:xfrm>
          <a:prstGeom prst="rect">
            <a:avLst/>
          </a:prstGeom>
          <a:noFill/>
        </p:spPr>
        <p:txBody>
          <a:bodyPr wrap="square" rtlCol="0">
            <a:spAutoFit/>
          </a:bodyPr>
          <a:lstStyle/>
          <a:p>
            <a:r>
              <a:rPr lang="en-US" sz="2000" b="1" dirty="0"/>
              <a:t>STRATEGIC TECHNOLOGY ALIGNMENT</a:t>
            </a:r>
          </a:p>
        </p:txBody>
      </p:sp>
      <p:sp>
        <p:nvSpPr>
          <p:cNvPr id="15" name="Rectangle 14">
            <a:extLst>
              <a:ext uri="{FF2B5EF4-FFF2-40B4-BE49-F238E27FC236}">
                <a16:creationId xmlns:a16="http://schemas.microsoft.com/office/drawing/2014/main" id="{FCA0A324-82F8-C790-B8F3-BE395623696D}"/>
              </a:ext>
            </a:extLst>
          </p:cNvPr>
          <p:cNvSpPr/>
          <p:nvPr/>
        </p:nvSpPr>
        <p:spPr>
          <a:xfrm>
            <a:off x="8774130" y="2250041"/>
            <a:ext cx="2615326" cy="3462389"/>
          </a:xfrm>
          <a:prstGeom prst="rect">
            <a:avLst/>
          </a:prstGeom>
          <a:solidFill>
            <a:schemeClr val="accent3">
              <a:lumMod val="20000"/>
              <a:lumOff val="80000"/>
            </a:schemeClr>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400" dirty="0">
              <a:solidFill>
                <a:schemeClr val="tx1"/>
              </a:solidFill>
            </a:endParaRPr>
          </a:p>
          <a:p>
            <a:endParaRPr lang="en-US" sz="1400" dirty="0">
              <a:solidFill>
                <a:schemeClr val="tx1"/>
              </a:solidFill>
            </a:endParaRPr>
          </a:p>
          <a:p>
            <a:endParaRPr lang="en-US" dirty="0">
              <a:solidFill>
                <a:schemeClr val="tx1"/>
              </a:solidFill>
            </a:endParaRPr>
          </a:p>
          <a:p>
            <a:r>
              <a:rPr lang="en-US" sz="2000" dirty="0">
                <a:solidFill>
                  <a:schemeClr val="tx1"/>
                </a:solidFill>
              </a:rPr>
              <a:t>Developed reusable migration patterns that reduced technical debt and accelerated modernization initiatives.</a:t>
            </a:r>
          </a:p>
        </p:txBody>
      </p:sp>
      <p:sp>
        <p:nvSpPr>
          <p:cNvPr id="16" name="TextBox 15">
            <a:extLst>
              <a:ext uri="{FF2B5EF4-FFF2-40B4-BE49-F238E27FC236}">
                <a16:creationId xmlns:a16="http://schemas.microsoft.com/office/drawing/2014/main" id="{4C4880A0-8719-FAB1-4809-9920CFEAB92F}"/>
              </a:ext>
            </a:extLst>
          </p:cNvPr>
          <p:cNvSpPr txBox="1"/>
          <p:nvPr/>
        </p:nvSpPr>
        <p:spPr>
          <a:xfrm>
            <a:off x="8774130" y="2250041"/>
            <a:ext cx="2615325" cy="707886"/>
          </a:xfrm>
          <a:prstGeom prst="rect">
            <a:avLst/>
          </a:prstGeom>
          <a:noFill/>
        </p:spPr>
        <p:txBody>
          <a:bodyPr wrap="square" rtlCol="0">
            <a:spAutoFit/>
          </a:bodyPr>
          <a:lstStyle/>
          <a:p>
            <a:r>
              <a:rPr lang="en-US" sz="2000" b="1" dirty="0"/>
              <a:t>ENTERPRISE MODERNIZATION</a:t>
            </a:r>
          </a:p>
        </p:txBody>
      </p:sp>
    </p:spTree>
    <p:extLst>
      <p:ext uri="{BB962C8B-B14F-4D97-AF65-F5344CB8AC3E}">
        <p14:creationId xmlns:p14="http://schemas.microsoft.com/office/powerpoint/2010/main" val="27948162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2B38CB-4AEC-918D-3290-2B6EE5C4E1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660E60-DA07-D984-4431-BBC9E7935506}"/>
              </a:ext>
            </a:extLst>
          </p:cNvPr>
          <p:cNvSpPr>
            <a:spLocks noGrp="1"/>
          </p:cNvSpPr>
          <p:nvPr>
            <p:ph type="title"/>
          </p:nvPr>
        </p:nvSpPr>
        <p:spPr>
          <a:xfrm>
            <a:off x="838200" y="365125"/>
            <a:ext cx="10515600" cy="1052709"/>
          </a:xfrm>
        </p:spPr>
        <p:txBody>
          <a:bodyPr>
            <a:normAutofit/>
          </a:bodyPr>
          <a:lstStyle/>
          <a:p>
            <a:r>
              <a:rPr lang="en-US" sz="3200" b="1" dirty="0"/>
              <a:t>Driving Enterprise Outcomes Through Influence</a:t>
            </a:r>
          </a:p>
        </p:txBody>
      </p:sp>
      <p:graphicFrame>
        <p:nvGraphicFramePr>
          <p:cNvPr id="39" name="Table 38">
            <a:extLst>
              <a:ext uri="{FF2B5EF4-FFF2-40B4-BE49-F238E27FC236}">
                <a16:creationId xmlns:a16="http://schemas.microsoft.com/office/drawing/2014/main" id="{3E10228B-E1E6-4E5D-53D6-C0C94F6094E7}"/>
              </a:ext>
            </a:extLst>
          </p:cNvPr>
          <p:cNvGraphicFramePr>
            <a:graphicFrameLocks noGrp="1"/>
          </p:cNvGraphicFramePr>
          <p:nvPr/>
        </p:nvGraphicFramePr>
        <p:xfrm>
          <a:off x="838200" y="3818414"/>
          <a:ext cx="10515600" cy="365760"/>
        </p:xfrm>
        <a:graphic>
          <a:graphicData uri="http://schemas.openxmlformats.org/drawingml/2006/table">
            <a:tbl>
              <a:tblPr/>
              <a:tblGrid>
                <a:gridCol w="10515600">
                  <a:extLst>
                    <a:ext uri="{9D8B030D-6E8A-4147-A177-3AD203B41FA5}">
                      <a16:colId xmlns:a16="http://schemas.microsoft.com/office/drawing/2014/main" val="133080820"/>
                    </a:ext>
                  </a:extLst>
                </a:gridCol>
              </a:tblGrid>
              <a:tr h="0">
                <a:tc>
                  <a:txBody>
                    <a:bodyPr/>
                    <a:lstStyle/>
                    <a:p>
                      <a:pPr>
                        <a:buNone/>
                      </a:pPr>
                      <a:endParaRPr lang="en-US" dirty="0"/>
                    </a:p>
                  </a:txBody>
                  <a:tcPr anchor="ctr">
                    <a:lnL>
                      <a:noFill/>
                    </a:lnL>
                    <a:lnR>
                      <a:noFill/>
                    </a:lnR>
                    <a:lnT>
                      <a:noFill/>
                    </a:lnT>
                    <a:lnB>
                      <a:noFill/>
                    </a:lnB>
                    <a:noFill/>
                  </a:tcPr>
                </a:tc>
                <a:extLst>
                  <a:ext uri="{0D108BD9-81ED-4DB2-BD59-A6C34878D82A}">
                    <a16:rowId xmlns:a16="http://schemas.microsoft.com/office/drawing/2014/main" val="2779265219"/>
                  </a:ext>
                </a:extLst>
              </a:tr>
            </a:tbl>
          </a:graphicData>
        </a:graphic>
      </p:graphicFrame>
      <p:graphicFrame>
        <p:nvGraphicFramePr>
          <p:cNvPr id="41" name="Table 40">
            <a:extLst>
              <a:ext uri="{FF2B5EF4-FFF2-40B4-BE49-F238E27FC236}">
                <a16:creationId xmlns:a16="http://schemas.microsoft.com/office/drawing/2014/main" id="{ABC5C921-20F0-AF03-EBF8-E63023FC3C98}"/>
              </a:ext>
            </a:extLst>
          </p:cNvPr>
          <p:cNvGraphicFramePr>
            <a:graphicFrameLocks noGrp="1"/>
          </p:cNvGraphicFramePr>
          <p:nvPr>
            <p:extLst>
              <p:ext uri="{D42A27DB-BD31-4B8C-83A1-F6EECF244321}">
                <p14:modId xmlns:p14="http://schemas.microsoft.com/office/powerpoint/2010/main" val="1588794893"/>
              </p:ext>
            </p:extLst>
          </p:nvPr>
        </p:nvGraphicFramePr>
        <p:xfrm>
          <a:off x="838200" y="2509784"/>
          <a:ext cx="10515600" cy="396240"/>
        </p:xfrm>
        <a:graphic>
          <a:graphicData uri="http://schemas.openxmlformats.org/drawingml/2006/table">
            <a:tbl>
              <a:tblPr/>
              <a:tblGrid>
                <a:gridCol w="5257800">
                  <a:extLst>
                    <a:ext uri="{9D8B030D-6E8A-4147-A177-3AD203B41FA5}">
                      <a16:colId xmlns:a16="http://schemas.microsoft.com/office/drawing/2014/main" val="2685176862"/>
                    </a:ext>
                  </a:extLst>
                </a:gridCol>
                <a:gridCol w="5257800">
                  <a:extLst>
                    <a:ext uri="{9D8B030D-6E8A-4147-A177-3AD203B41FA5}">
                      <a16:colId xmlns:a16="http://schemas.microsoft.com/office/drawing/2014/main" val="3764606714"/>
                    </a:ext>
                  </a:extLst>
                </a:gridCol>
              </a:tblGrid>
              <a:tr h="0">
                <a:tc>
                  <a:txBody>
                    <a:bodyPr/>
                    <a:lstStyle/>
                    <a:p>
                      <a:pPr>
                        <a:buNone/>
                      </a:pPr>
                      <a:r>
                        <a:rPr lang="en-US" sz="2000" dirty="0">
                          <a:solidFill>
                            <a:schemeClr val="tx1"/>
                          </a:solidFill>
                        </a:rPr>
                        <a:t>Global API Gateway </a:t>
                      </a:r>
                      <a:r>
                        <a:rPr lang="en-US" sz="2000" b="0" dirty="0">
                          <a:solidFill>
                            <a:schemeClr val="tx1"/>
                          </a:solidFill>
                        </a:rPr>
                        <a:t>Standardization</a:t>
                      </a:r>
                    </a:p>
                  </a:txBody>
                  <a:tcPr anchor="ctr">
                    <a:lnL>
                      <a:noFill/>
                    </a:lnL>
                    <a:lnR>
                      <a:noFill/>
                    </a:lnR>
                    <a:lnT>
                      <a:noFill/>
                    </a:lnT>
                    <a:lnB>
                      <a:noFill/>
                    </a:lnB>
                    <a:noFill/>
                  </a:tcPr>
                </a:tc>
                <a:tc>
                  <a:txBody>
                    <a:bodyPr/>
                    <a:lstStyle/>
                    <a:p>
                      <a:pPr>
                        <a:buNone/>
                      </a:pPr>
                      <a:r>
                        <a:rPr lang="en-US" sz="2000" dirty="0"/>
                        <a:t>Focused teams on </a:t>
                      </a:r>
                      <a:r>
                        <a:rPr lang="en-US" sz="2000" dirty="0">
                          <a:solidFill>
                            <a:srgbClr val="C00000"/>
                          </a:solidFill>
                        </a:rPr>
                        <a:t>shared business </a:t>
                      </a:r>
                      <a:r>
                        <a:rPr lang="en-US" sz="2000" dirty="0"/>
                        <a:t>outcomes</a:t>
                      </a:r>
                    </a:p>
                  </a:txBody>
                  <a:tcPr anchor="ctr">
                    <a:lnL>
                      <a:noFill/>
                    </a:lnL>
                    <a:lnR>
                      <a:noFill/>
                    </a:lnR>
                    <a:lnT>
                      <a:noFill/>
                    </a:lnT>
                    <a:lnB>
                      <a:noFill/>
                    </a:lnB>
                    <a:noFill/>
                  </a:tcPr>
                </a:tc>
                <a:extLst>
                  <a:ext uri="{0D108BD9-81ED-4DB2-BD59-A6C34878D82A}">
                    <a16:rowId xmlns:a16="http://schemas.microsoft.com/office/drawing/2014/main" val="661205126"/>
                  </a:ext>
                </a:extLst>
              </a:tr>
            </a:tbl>
          </a:graphicData>
        </a:graphic>
      </p:graphicFrame>
      <p:graphicFrame>
        <p:nvGraphicFramePr>
          <p:cNvPr id="43" name="Table 42">
            <a:extLst>
              <a:ext uri="{FF2B5EF4-FFF2-40B4-BE49-F238E27FC236}">
                <a16:creationId xmlns:a16="http://schemas.microsoft.com/office/drawing/2014/main" id="{4254F873-2E36-610B-D591-F5219441B9A6}"/>
              </a:ext>
            </a:extLst>
          </p:cNvPr>
          <p:cNvGraphicFramePr>
            <a:graphicFrameLocks noGrp="1"/>
          </p:cNvGraphicFramePr>
          <p:nvPr>
            <p:extLst>
              <p:ext uri="{D42A27DB-BD31-4B8C-83A1-F6EECF244321}">
                <p14:modId xmlns:p14="http://schemas.microsoft.com/office/powerpoint/2010/main" val="2663930517"/>
              </p:ext>
            </p:extLst>
          </p:nvPr>
        </p:nvGraphicFramePr>
        <p:xfrm>
          <a:off x="838200" y="3066496"/>
          <a:ext cx="10515600" cy="701040"/>
        </p:xfrm>
        <a:graphic>
          <a:graphicData uri="http://schemas.openxmlformats.org/drawingml/2006/table">
            <a:tbl>
              <a:tblPr/>
              <a:tblGrid>
                <a:gridCol w="5257800">
                  <a:extLst>
                    <a:ext uri="{9D8B030D-6E8A-4147-A177-3AD203B41FA5}">
                      <a16:colId xmlns:a16="http://schemas.microsoft.com/office/drawing/2014/main" val="2685176862"/>
                    </a:ext>
                  </a:extLst>
                </a:gridCol>
                <a:gridCol w="5257800">
                  <a:extLst>
                    <a:ext uri="{9D8B030D-6E8A-4147-A177-3AD203B41FA5}">
                      <a16:colId xmlns:a16="http://schemas.microsoft.com/office/drawing/2014/main" val="3764606714"/>
                    </a:ext>
                  </a:extLst>
                </a:gridCol>
              </a:tblGrid>
              <a:tr h="0">
                <a:tc>
                  <a:txBody>
                    <a:bodyPr/>
                    <a:lstStyle/>
                    <a:p>
                      <a:pPr>
                        <a:buNone/>
                      </a:pPr>
                      <a:r>
                        <a:rPr lang="en-US" sz="2000" dirty="0"/>
                        <a:t>Enterprise AI Platform </a:t>
                      </a:r>
                      <a:r>
                        <a:rPr lang="en-US" sz="2000" dirty="0">
                          <a:solidFill>
                            <a:srgbClr val="C00000"/>
                          </a:solidFill>
                        </a:rPr>
                        <a:t>Alignment</a:t>
                      </a:r>
                    </a:p>
                  </a:txBody>
                  <a:tcPr anchor="ctr">
                    <a:lnL>
                      <a:noFill/>
                    </a:lnL>
                    <a:lnR>
                      <a:noFill/>
                    </a:lnR>
                    <a:lnT>
                      <a:noFill/>
                    </a:lnT>
                    <a:lnB>
                      <a:noFill/>
                    </a:lnB>
                    <a:noFill/>
                  </a:tcPr>
                </a:tc>
                <a:tc>
                  <a:txBody>
                    <a:bodyPr/>
                    <a:lstStyle/>
                    <a:p>
                      <a:pPr>
                        <a:buNone/>
                      </a:pPr>
                      <a:r>
                        <a:rPr lang="en-US" sz="2000" dirty="0"/>
                        <a:t>Promoted </a:t>
                      </a:r>
                      <a:r>
                        <a:rPr lang="en-US" sz="2000" dirty="0">
                          <a:solidFill>
                            <a:srgbClr val="C00000"/>
                          </a:solidFill>
                        </a:rPr>
                        <a:t>long-term</a:t>
                      </a:r>
                      <a:r>
                        <a:rPr lang="en-US" sz="2000" dirty="0"/>
                        <a:t> platform thinking over local optimization</a:t>
                      </a:r>
                    </a:p>
                  </a:txBody>
                  <a:tcPr anchor="ctr">
                    <a:lnL>
                      <a:noFill/>
                    </a:lnL>
                    <a:lnR>
                      <a:noFill/>
                    </a:lnR>
                    <a:lnT>
                      <a:noFill/>
                    </a:lnT>
                    <a:lnB>
                      <a:noFill/>
                    </a:lnB>
                    <a:noFill/>
                  </a:tcPr>
                </a:tc>
                <a:extLst>
                  <a:ext uri="{0D108BD9-81ED-4DB2-BD59-A6C34878D82A}">
                    <a16:rowId xmlns:a16="http://schemas.microsoft.com/office/drawing/2014/main" val="661205126"/>
                  </a:ext>
                </a:extLst>
              </a:tr>
            </a:tbl>
          </a:graphicData>
        </a:graphic>
      </p:graphicFrame>
      <p:graphicFrame>
        <p:nvGraphicFramePr>
          <p:cNvPr id="44" name="Table 43">
            <a:extLst>
              <a:ext uri="{FF2B5EF4-FFF2-40B4-BE49-F238E27FC236}">
                <a16:creationId xmlns:a16="http://schemas.microsoft.com/office/drawing/2014/main" id="{6A1A9BC3-174D-7CAB-5CBE-3D986801351F}"/>
              </a:ext>
            </a:extLst>
          </p:cNvPr>
          <p:cNvGraphicFramePr>
            <a:graphicFrameLocks noGrp="1"/>
          </p:cNvGraphicFramePr>
          <p:nvPr>
            <p:extLst>
              <p:ext uri="{D42A27DB-BD31-4B8C-83A1-F6EECF244321}">
                <p14:modId xmlns:p14="http://schemas.microsoft.com/office/powerpoint/2010/main" val="280019354"/>
              </p:ext>
            </p:extLst>
          </p:nvPr>
        </p:nvGraphicFramePr>
        <p:xfrm>
          <a:off x="838200" y="3907460"/>
          <a:ext cx="10515600" cy="701040"/>
        </p:xfrm>
        <a:graphic>
          <a:graphicData uri="http://schemas.openxmlformats.org/drawingml/2006/table">
            <a:tbl>
              <a:tblPr/>
              <a:tblGrid>
                <a:gridCol w="5257800">
                  <a:extLst>
                    <a:ext uri="{9D8B030D-6E8A-4147-A177-3AD203B41FA5}">
                      <a16:colId xmlns:a16="http://schemas.microsoft.com/office/drawing/2014/main" val="2685176862"/>
                    </a:ext>
                  </a:extLst>
                </a:gridCol>
                <a:gridCol w="5257800">
                  <a:extLst>
                    <a:ext uri="{9D8B030D-6E8A-4147-A177-3AD203B41FA5}">
                      <a16:colId xmlns:a16="http://schemas.microsoft.com/office/drawing/2014/main" val="3764606714"/>
                    </a:ext>
                  </a:extLst>
                </a:gridCol>
              </a:tblGrid>
              <a:tr h="0">
                <a:tc>
                  <a:txBody>
                    <a:bodyPr/>
                    <a:lstStyle/>
                    <a:p>
                      <a:pPr>
                        <a:buNone/>
                      </a:pPr>
                      <a:r>
                        <a:rPr lang="en-US" sz="2000" dirty="0"/>
                        <a:t>Enterprise Migration &amp; Regulatory </a:t>
                      </a:r>
                    </a:p>
                    <a:p>
                      <a:pPr>
                        <a:buNone/>
                      </a:pPr>
                      <a:r>
                        <a:rPr lang="en-US" sz="2000" dirty="0"/>
                        <a:t>Dependencies</a:t>
                      </a:r>
                    </a:p>
                  </a:txBody>
                  <a:tcPr anchor="ctr">
                    <a:lnL>
                      <a:noFill/>
                    </a:lnL>
                    <a:lnR>
                      <a:noFill/>
                    </a:lnR>
                    <a:lnT>
                      <a:noFill/>
                    </a:lnT>
                    <a:lnB>
                      <a:noFill/>
                    </a:lnB>
                    <a:noFill/>
                  </a:tcPr>
                </a:tc>
                <a:tc>
                  <a:txBody>
                    <a:bodyPr/>
                    <a:lstStyle/>
                    <a:p>
                      <a:pPr>
                        <a:buNone/>
                      </a:pPr>
                      <a:r>
                        <a:rPr lang="en-US" sz="2000" dirty="0"/>
                        <a:t>Used risk-based decision making to drive consensus</a:t>
                      </a:r>
                    </a:p>
                  </a:txBody>
                  <a:tcPr anchor="ctr">
                    <a:lnL>
                      <a:noFill/>
                    </a:lnL>
                    <a:lnR>
                      <a:noFill/>
                    </a:lnR>
                    <a:lnT>
                      <a:noFill/>
                    </a:lnT>
                    <a:lnB>
                      <a:noFill/>
                    </a:lnB>
                    <a:noFill/>
                  </a:tcPr>
                </a:tc>
                <a:extLst>
                  <a:ext uri="{0D108BD9-81ED-4DB2-BD59-A6C34878D82A}">
                    <a16:rowId xmlns:a16="http://schemas.microsoft.com/office/drawing/2014/main" val="661205126"/>
                  </a:ext>
                </a:extLst>
              </a:tr>
            </a:tbl>
          </a:graphicData>
        </a:graphic>
      </p:graphicFrame>
      <p:sp>
        <p:nvSpPr>
          <p:cNvPr id="46" name="TextBox 45">
            <a:extLst>
              <a:ext uri="{FF2B5EF4-FFF2-40B4-BE49-F238E27FC236}">
                <a16:creationId xmlns:a16="http://schemas.microsoft.com/office/drawing/2014/main" id="{08433B96-F4F8-7938-7AD4-0F7D7C17674D}"/>
              </a:ext>
            </a:extLst>
          </p:cNvPr>
          <p:cNvSpPr txBox="1"/>
          <p:nvPr/>
        </p:nvSpPr>
        <p:spPr>
          <a:xfrm>
            <a:off x="838199" y="5141235"/>
            <a:ext cx="10515599" cy="1077218"/>
          </a:xfrm>
          <a:prstGeom prst="rect">
            <a:avLst/>
          </a:prstGeom>
          <a:noFill/>
        </p:spPr>
        <p:txBody>
          <a:bodyPr wrap="square">
            <a:spAutoFit/>
          </a:bodyPr>
          <a:lstStyle/>
          <a:p>
            <a:pPr>
              <a:buNone/>
            </a:pPr>
            <a:r>
              <a:rPr lang="en-US" sz="2400" b="1" dirty="0"/>
              <a:t>Stakeholders Influenced</a:t>
            </a:r>
          </a:p>
          <a:p>
            <a:pPr>
              <a:buNone/>
            </a:pPr>
            <a:endParaRPr lang="en-US" sz="2000" dirty="0"/>
          </a:p>
          <a:p>
            <a:pPr>
              <a:buNone/>
            </a:pPr>
            <a:r>
              <a:rPr lang="en-US" sz="2000" dirty="0"/>
              <a:t>Business • SRE • Network • AI Platform • Migration &amp; Regulatory</a:t>
            </a:r>
          </a:p>
        </p:txBody>
      </p:sp>
      <p:graphicFrame>
        <p:nvGraphicFramePr>
          <p:cNvPr id="47" name="Table 46">
            <a:extLst>
              <a:ext uri="{FF2B5EF4-FFF2-40B4-BE49-F238E27FC236}">
                <a16:creationId xmlns:a16="http://schemas.microsoft.com/office/drawing/2014/main" id="{F00963B4-FF1D-B81C-AFE9-EE35FC45C7AA}"/>
              </a:ext>
            </a:extLst>
          </p:cNvPr>
          <p:cNvGraphicFramePr>
            <a:graphicFrameLocks noGrp="1"/>
          </p:cNvGraphicFramePr>
          <p:nvPr/>
        </p:nvGraphicFramePr>
        <p:xfrm>
          <a:off x="838198" y="1914559"/>
          <a:ext cx="10515600" cy="396240"/>
        </p:xfrm>
        <a:graphic>
          <a:graphicData uri="http://schemas.openxmlformats.org/drawingml/2006/table">
            <a:tbl>
              <a:tblPr/>
              <a:tblGrid>
                <a:gridCol w="5257800">
                  <a:extLst>
                    <a:ext uri="{9D8B030D-6E8A-4147-A177-3AD203B41FA5}">
                      <a16:colId xmlns:a16="http://schemas.microsoft.com/office/drawing/2014/main" val="2685176862"/>
                    </a:ext>
                  </a:extLst>
                </a:gridCol>
                <a:gridCol w="5257800">
                  <a:extLst>
                    <a:ext uri="{9D8B030D-6E8A-4147-A177-3AD203B41FA5}">
                      <a16:colId xmlns:a16="http://schemas.microsoft.com/office/drawing/2014/main" val="3764606714"/>
                    </a:ext>
                  </a:extLst>
                </a:gridCol>
              </a:tblGrid>
              <a:tr h="0">
                <a:tc>
                  <a:txBody>
                    <a:bodyPr/>
                    <a:lstStyle/>
                    <a:p>
                      <a:pPr>
                        <a:buNone/>
                      </a:pPr>
                      <a:r>
                        <a:rPr lang="en-US" sz="2000" dirty="0"/>
                        <a:t>Shared AKS </a:t>
                      </a:r>
                      <a:r>
                        <a:rPr lang="en-US" sz="2000" dirty="0">
                          <a:solidFill>
                            <a:srgbClr val="C00000"/>
                          </a:solidFill>
                        </a:rPr>
                        <a:t>Platform Maturity</a:t>
                      </a:r>
                    </a:p>
                  </a:txBody>
                  <a:tcPr anchor="ctr">
                    <a:lnL>
                      <a:noFill/>
                    </a:lnL>
                    <a:lnR>
                      <a:noFill/>
                    </a:lnR>
                    <a:lnT>
                      <a:noFill/>
                    </a:lnT>
                    <a:lnB>
                      <a:noFill/>
                    </a:lnB>
                    <a:noFill/>
                  </a:tcPr>
                </a:tc>
                <a:tc>
                  <a:txBody>
                    <a:bodyPr/>
                    <a:lstStyle/>
                    <a:p>
                      <a:pPr>
                        <a:buNone/>
                      </a:pPr>
                      <a:r>
                        <a:rPr lang="en-US" sz="2000" dirty="0"/>
                        <a:t>Built alignment through relationships and trust</a:t>
                      </a:r>
                    </a:p>
                  </a:txBody>
                  <a:tcPr anchor="ctr">
                    <a:lnL>
                      <a:noFill/>
                    </a:lnL>
                    <a:lnR>
                      <a:noFill/>
                    </a:lnR>
                    <a:lnT>
                      <a:noFill/>
                    </a:lnT>
                    <a:lnB>
                      <a:noFill/>
                    </a:lnB>
                    <a:noFill/>
                  </a:tcPr>
                </a:tc>
                <a:extLst>
                  <a:ext uri="{0D108BD9-81ED-4DB2-BD59-A6C34878D82A}">
                    <a16:rowId xmlns:a16="http://schemas.microsoft.com/office/drawing/2014/main" val="661205126"/>
                  </a:ext>
                </a:extLst>
              </a:tr>
            </a:tbl>
          </a:graphicData>
        </a:graphic>
      </p:graphicFrame>
      <p:graphicFrame>
        <p:nvGraphicFramePr>
          <p:cNvPr id="48" name="Table 47">
            <a:extLst>
              <a:ext uri="{FF2B5EF4-FFF2-40B4-BE49-F238E27FC236}">
                <a16:creationId xmlns:a16="http://schemas.microsoft.com/office/drawing/2014/main" id="{90A5B97D-1C44-9CF1-C2D4-4CC84A5D5D65}"/>
              </a:ext>
            </a:extLst>
          </p:cNvPr>
          <p:cNvGraphicFramePr>
            <a:graphicFrameLocks noGrp="1"/>
          </p:cNvGraphicFramePr>
          <p:nvPr>
            <p:extLst>
              <p:ext uri="{D42A27DB-BD31-4B8C-83A1-F6EECF244321}">
                <p14:modId xmlns:p14="http://schemas.microsoft.com/office/powerpoint/2010/main" val="3551725849"/>
              </p:ext>
            </p:extLst>
          </p:nvPr>
        </p:nvGraphicFramePr>
        <p:xfrm>
          <a:off x="838198" y="1371895"/>
          <a:ext cx="10515600" cy="457200"/>
        </p:xfrm>
        <a:graphic>
          <a:graphicData uri="http://schemas.openxmlformats.org/drawingml/2006/table">
            <a:tbl>
              <a:tblPr/>
              <a:tblGrid>
                <a:gridCol w="5257800">
                  <a:extLst>
                    <a:ext uri="{9D8B030D-6E8A-4147-A177-3AD203B41FA5}">
                      <a16:colId xmlns:a16="http://schemas.microsoft.com/office/drawing/2014/main" val="2685176862"/>
                    </a:ext>
                  </a:extLst>
                </a:gridCol>
                <a:gridCol w="5257800">
                  <a:extLst>
                    <a:ext uri="{9D8B030D-6E8A-4147-A177-3AD203B41FA5}">
                      <a16:colId xmlns:a16="http://schemas.microsoft.com/office/drawing/2014/main" val="3764606714"/>
                    </a:ext>
                  </a:extLst>
                </a:gridCol>
              </a:tblGrid>
              <a:tr h="0">
                <a:tc>
                  <a:txBody>
                    <a:bodyPr/>
                    <a:lstStyle/>
                    <a:p>
                      <a:pPr>
                        <a:buNone/>
                      </a:pPr>
                      <a:r>
                        <a:rPr lang="en-US" sz="2400" b="1" dirty="0"/>
                        <a:t>Challenges</a:t>
                      </a:r>
                      <a:endParaRPr lang="en-US" sz="2400" dirty="0"/>
                    </a:p>
                  </a:txBody>
                  <a:tcPr anchor="ctr">
                    <a:lnL>
                      <a:noFill/>
                    </a:lnL>
                    <a:lnR>
                      <a:noFill/>
                    </a:lnR>
                    <a:lnT>
                      <a:noFill/>
                    </a:lnT>
                    <a:lnB>
                      <a:noFill/>
                    </a:lnB>
                    <a:solidFill>
                      <a:schemeClr val="bg1">
                        <a:lumMod val="95000"/>
                      </a:schemeClr>
                    </a:solidFill>
                  </a:tcPr>
                </a:tc>
                <a:tc>
                  <a:txBody>
                    <a:bodyPr/>
                    <a:lstStyle/>
                    <a:p>
                      <a:pPr>
                        <a:buNone/>
                      </a:pPr>
                      <a:r>
                        <a:rPr lang="en-US" sz="2400" b="1" dirty="0"/>
                        <a:t>How I Influenced</a:t>
                      </a:r>
                      <a:endParaRPr lang="en-US" sz="2400" dirty="0"/>
                    </a:p>
                  </a:txBody>
                  <a:tcPr anchor="ctr">
                    <a:lnL>
                      <a:noFill/>
                    </a:lnL>
                    <a:lnR>
                      <a:noFill/>
                    </a:lnR>
                    <a:lnT>
                      <a:noFill/>
                    </a:lnT>
                    <a:lnB>
                      <a:noFill/>
                    </a:lnB>
                    <a:solidFill>
                      <a:schemeClr val="bg1">
                        <a:lumMod val="95000"/>
                      </a:schemeClr>
                    </a:solidFill>
                  </a:tcPr>
                </a:tc>
                <a:extLst>
                  <a:ext uri="{0D108BD9-81ED-4DB2-BD59-A6C34878D82A}">
                    <a16:rowId xmlns:a16="http://schemas.microsoft.com/office/drawing/2014/main" val="661205126"/>
                  </a:ext>
                </a:extLst>
              </a:tr>
            </a:tbl>
          </a:graphicData>
        </a:graphic>
      </p:graphicFrame>
    </p:spTree>
    <p:extLst>
      <p:ext uri="{BB962C8B-B14F-4D97-AF65-F5344CB8AC3E}">
        <p14:creationId xmlns:p14="http://schemas.microsoft.com/office/powerpoint/2010/main" val="2622017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FA170A-7975-F943-00D2-E34555D981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35ADEA-93F1-A9E4-3995-F6D4C720E501}"/>
              </a:ext>
            </a:extLst>
          </p:cNvPr>
          <p:cNvSpPr>
            <a:spLocks noGrp="1"/>
          </p:cNvSpPr>
          <p:nvPr>
            <p:ph type="title"/>
          </p:nvPr>
        </p:nvSpPr>
        <p:spPr>
          <a:xfrm>
            <a:off x="838200" y="365125"/>
            <a:ext cx="10515600" cy="1052709"/>
          </a:xfrm>
        </p:spPr>
        <p:txBody>
          <a:bodyPr>
            <a:normAutofit/>
          </a:bodyPr>
          <a:lstStyle/>
          <a:p>
            <a:r>
              <a:rPr lang="en-US" sz="3200" dirty="0"/>
              <a:t>Enterprise Impact &amp; Future Platform Strategy</a:t>
            </a:r>
            <a:endParaRPr lang="en-US" sz="3200" b="1" dirty="0"/>
          </a:p>
        </p:txBody>
      </p:sp>
      <p:graphicFrame>
        <p:nvGraphicFramePr>
          <p:cNvPr id="10" name="Table 9">
            <a:extLst>
              <a:ext uri="{FF2B5EF4-FFF2-40B4-BE49-F238E27FC236}">
                <a16:creationId xmlns:a16="http://schemas.microsoft.com/office/drawing/2014/main" id="{64ABA25A-85A9-7EAF-10DF-22E1074A6E94}"/>
              </a:ext>
            </a:extLst>
          </p:cNvPr>
          <p:cNvGraphicFramePr>
            <a:graphicFrameLocks noGrp="1"/>
          </p:cNvGraphicFramePr>
          <p:nvPr>
            <p:extLst>
              <p:ext uri="{D42A27DB-BD31-4B8C-83A1-F6EECF244321}">
                <p14:modId xmlns:p14="http://schemas.microsoft.com/office/powerpoint/2010/main" val="2893591536"/>
              </p:ext>
            </p:extLst>
          </p:nvPr>
        </p:nvGraphicFramePr>
        <p:xfrm>
          <a:off x="838200" y="2813165"/>
          <a:ext cx="10515600" cy="701040"/>
        </p:xfrm>
        <a:graphic>
          <a:graphicData uri="http://schemas.openxmlformats.org/drawingml/2006/table">
            <a:tbl>
              <a:tblPr/>
              <a:tblGrid>
                <a:gridCol w="5257800">
                  <a:extLst>
                    <a:ext uri="{9D8B030D-6E8A-4147-A177-3AD203B41FA5}">
                      <a16:colId xmlns:a16="http://schemas.microsoft.com/office/drawing/2014/main" val="2685176862"/>
                    </a:ext>
                  </a:extLst>
                </a:gridCol>
                <a:gridCol w="5257800">
                  <a:extLst>
                    <a:ext uri="{9D8B030D-6E8A-4147-A177-3AD203B41FA5}">
                      <a16:colId xmlns:a16="http://schemas.microsoft.com/office/drawing/2014/main" val="3764606714"/>
                    </a:ext>
                  </a:extLst>
                </a:gridCol>
              </a:tblGrid>
              <a:tr h="0">
                <a:tc>
                  <a:txBody>
                    <a:bodyPr/>
                    <a:lstStyle/>
                    <a:p>
                      <a:pPr>
                        <a:buNone/>
                      </a:pPr>
                      <a:r>
                        <a:rPr lang="en-US" sz="2000" dirty="0"/>
                        <a:t>Accelerated delivery through </a:t>
                      </a:r>
                      <a:r>
                        <a:rPr lang="en-US" sz="2000" dirty="0">
                          <a:solidFill>
                            <a:srgbClr val="C00000"/>
                          </a:solidFill>
                        </a:rPr>
                        <a:t>reusable architecture</a:t>
                      </a:r>
                      <a:r>
                        <a:rPr lang="en-US" sz="2000" dirty="0"/>
                        <a:t> patterns and faster onboarding</a:t>
                      </a:r>
                      <a:endParaRPr lang="en-US" sz="2000" dirty="0">
                        <a:solidFill>
                          <a:srgbClr val="C00000"/>
                        </a:solidFill>
                      </a:endParaRPr>
                    </a:p>
                  </a:txBody>
                  <a:tcPr anchor="ctr">
                    <a:lnL>
                      <a:noFill/>
                    </a:lnL>
                    <a:lnR>
                      <a:noFill/>
                    </a:lnR>
                    <a:lnT>
                      <a:noFill/>
                    </a:lnT>
                    <a:lnB>
                      <a:noFill/>
                    </a:lnB>
                    <a:noFill/>
                  </a:tcPr>
                </a:tc>
                <a:tc>
                  <a:txBody>
                    <a:bodyPr/>
                    <a:lstStyle/>
                    <a:p>
                      <a:pPr>
                        <a:buNone/>
                      </a:pPr>
                      <a:r>
                        <a:rPr lang="en-US" sz="2000" dirty="0"/>
                        <a:t>Expand cloud-native platform adoption and modern engineering practices</a:t>
                      </a:r>
                    </a:p>
                  </a:txBody>
                  <a:tcPr anchor="ctr">
                    <a:lnL>
                      <a:noFill/>
                    </a:lnL>
                    <a:lnR>
                      <a:noFill/>
                    </a:lnR>
                    <a:lnT>
                      <a:noFill/>
                    </a:lnT>
                    <a:lnB>
                      <a:noFill/>
                    </a:lnB>
                    <a:noFill/>
                  </a:tcPr>
                </a:tc>
                <a:extLst>
                  <a:ext uri="{0D108BD9-81ED-4DB2-BD59-A6C34878D82A}">
                    <a16:rowId xmlns:a16="http://schemas.microsoft.com/office/drawing/2014/main" val="661205126"/>
                  </a:ext>
                </a:extLst>
              </a:tr>
            </a:tbl>
          </a:graphicData>
        </a:graphic>
      </p:graphicFrame>
      <p:graphicFrame>
        <p:nvGraphicFramePr>
          <p:cNvPr id="11" name="Table 10">
            <a:extLst>
              <a:ext uri="{FF2B5EF4-FFF2-40B4-BE49-F238E27FC236}">
                <a16:creationId xmlns:a16="http://schemas.microsoft.com/office/drawing/2014/main" id="{5D3CBD1B-F499-9C26-361A-8F43DB1D0DF0}"/>
              </a:ext>
            </a:extLst>
          </p:cNvPr>
          <p:cNvGraphicFramePr>
            <a:graphicFrameLocks noGrp="1"/>
          </p:cNvGraphicFramePr>
          <p:nvPr>
            <p:extLst>
              <p:ext uri="{D42A27DB-BD31-4B8C-83A1-F6EECF244321}">
                <p14:modId xmlns:p14="http://schemas.microsoft.com/office/powerpoint/2010/main" val="242176571"/>
              </p:ext>
            </p:extLst>
          </p:nvPr>
        </p:nvGraphicFramePr>
        <p:xfrm>
          <a:off x="838200" y="3792586"/>
          <a:ext cx="10515600" cy="701040"/>
        </p:xfrm>
        <a:graphic>
          <a:graphicData uri="http://schemas.openxmlformats.org/drawingml/2006/table">
            <a:tbl>
              <a:tblPr/>
              <a:tblGrid>
                <a:gridCol w="5257800">
                  <a:extLst>
                    <a:ext uri="{9D8B030D-6E8A-4147-A177-3AD203B41FA5}">
                      <a16:colId xmlns:a16="http://schemas.microsoft.com/office/drawing/2014/main" val="2685176862"/>
                    </a:ext>
                  </a:extLst>
                </a:gridCol>
                <a:gridCol w="5257800">
                  <a:extLst>
                    <a:ext uri="{9D8B030D-6E8A-4147-A177-3AD203B41FA5}">
                      <a16:colId xmlns:a16="http://schemas.microsoft.com/office/drawing/2014/main" val="3764606714"/>
                    </a:ext>
                  </a:extLst>
                </a:gridCol>
              </a:tblGrid>
              <a:tr h="0">
                <a:tc>
                  <a:txBody>
                    <a:bodyPr/>
                    <a:lstStyle/>
                    <a:p>
                      <a:pPr>
                        <a:buNone/>
                      </a:pPr>
                      <a:r>
                        <a:rPr lang="en-US" sz="2000" dirty="0"/>
                        <a:t>Established foundations for </a:t>
                      </a:r>
                      <a:r>
                        <a:rPr lang="en-US" sz="2000" dirty="0">
                          <a:solidFill>
                            <a:srgbClr val="C00000"/>
                          </a:solidFill>
                        </a:rPr>
                        <a:t>global SaaS </a:t>
                      </a:r>
                      <a:r>
                        <a:rPr lang="en-US" sz="2000" dirty="0"/>
                        <a:t>scale and shared engineering models</a:t>
                      </a:r>
                      <a:endParaRPr lang="en-US" sz="2000" dirty="0">
                        <a:solidFill>
                          <a:srgbClr val="C00000"/>
                        </a:solidFill>
                      </a:endParaRPr>
                    </a:p>
                  </a:txBody>
                  <a:tcPr anchor="ctr">
                    <a:lnL>
                      <a:noFill/>
                    </a:lnL>
                    <a:lnR>
                      <a:noFill/>
                    </a:lnR>
                    <a:lnT>
                      <a:noFill/>
                    </a:lnT>
                    <a:lnB>
                      <a:noFill/>
                    </a:lnB>
                    <a:noFill/>
                  </a:tcPr>
                </a:tc>
                <a:tc>
                  <a:txBody>
                    <a:bodyPr/>
                    <a:lstStyle/>
                    <a:p>
                      <a:pPr>
                        <a:buNone/>
                      </a:pPr>
                      <a:r>
                        <a:rPr lang="en-US" sz="2000" dirty="0"/>
                        <a:t>Develop architectural leadership and strengthen organizational capability</a:t>
                      </a:r>
                    </a:p>
                  </a:txBody>
                  <a:tcPr anchor="ctr">
                    <a:lnL>
                      <a:noFill/>
                    </a:lnL>
                    <a:lnR>
                      <a:noFill/>
                    </a:lnR>
                    <a:lnT>
                      <a:noFill/>
                    </a:lnT>
                    <a:lnB>
                      <a:noFill/>
                    </a:lnB>
                    <a:noFill/>
                  </a:tcPr>
                </a:tc>
                <a:extLst>
                  <a:ext uri="{0D108BD9-81ED-4DB2-BD59-A6C34878D82A}">
                    <a16:rowId xmlns:a16="http://schemas.microsoft.com/office/drawing/2014/main" val="661205126"/>
                  </a:ext>
                </a:extLst>
              </a:tr>
            </a:tbl>
          </a:graphicData>
        </a:graphic>
      </p:graphicFrame>
      <p:graphicFrame>
        <p:nvGraphicFramePr>
          <p:cNvPr id="12" name="Table 11">
            <a:extLst>
              <a:ext uri="{FF2B5EF4-FFF2-40B4-BE49-F238E27FC236}">
                <a16:creationId xmlns:a16="http://schemas.microsoft.com/office/drawing/2014/main" id="{9241E760-6EFE-02DF-D75A-732364208F97}"/>
              </a:ext>
            </a:extLst>
          </p:cNvPr>
          <p:cNvGraphicFramePr>
            <a:graphicFrameLocks noGrp="1"/>
          </p:cNvGraphicFramePr>
          <p:nvPr>
            <p:extLst>
              <p:ext uri="{D42A27DB-BD31-4B8C-83A1-F6EECF244321}">
                <p14:modId xmlns:p14="http://schemas.microsoft.com/office/powerpoint/2010/main" val="3540787463"/>
              </p:ext>
            </p:extLst>
          </p:nvPr>
        </p:nvGraphicFramePr>
        <p:xfrm>
          <a:off x="838198" y="4785065"/>
          <a:ext cx="10515600" cy="701040"/>
        </p:xfrm>
        <a:graphic>
          <a:graphicData uri="http://schemas.openxmlformats.org/drawingml/2006/table">
            <a:tbl>
              <a:tblPr/>
              <a:tblGrid>
                <a:gridCol w="5257800">
                  <a:extLst>
                    <a:ext uri="{9D8B030D-6E8A-4147-A177-3AD203B41FA5}">
                      <a16:colId xmlns:a16="http://schemas.microsoft.com/office/drawing/2014/main" val="2685176862"/>
                    </a:ext>
                  </a:extLst>
                </a:gridCol>
                <a:gridCol w="5257800">
                  <a:extLst>
                    <a:ext uri="{9D8B030D-6E8A-4147-A177-3AD203B41FA5}">
                      <a16:colId xmlns:a16="http://schemas.microsoft.com/office/drawing/2014/main" val="3764606714"/>
                    </a:ext>
                  </a:extLst>
                </a:gridCol>
              </a:tblGrid>
              <a:tr h="0">
                <a:tc>
                  <a:txBody>
                    <a:bodyPr/>
                    <a:lstStyle/>
                    <a:p>
                      <a:pPr>
                        <a:buNone/>
                      </a:pPr>
                      <a:r>
                        <a:rPr lang="en-US" sz="2000" dirty="0"/>
                        <a:t>Improved </a:t>
                      </a:r>
                      <a:r>
                        <a:rPr lang="en-US" sz="2000" dirty="0">
                          <a:solidFill>
                            <a:srgbClr val="C00000"/>
                          </a:solidFill>
                        </a:rPr>
                        <a:t>alignment</a:t>
                      </a:r>
                      <a:r>
                        <a:rPr lang="en-US" sz="2000" dirty="0"/>
                        <a:t> across Business, Engineering, Operations, and Regulatory teams</a:t>
                      </a:r>
                    </a:p>
                  </a:txBody>
                  <a:tcPr anchor="ctr">
                    <a:lnL>
                      <a:noFill/>
                    </a:lnL>
                    <a:lnR>
                      <a:noFill/>
                    </a:lnR>
                    <a:lnT>
                      <a:noFill/>
                    </a:lnT>
                    <a:lnB>
                      <a:noFill/>
                    </a:lnB>
                    <a:noFill/>
                  </a:tcPr>
                </a:tc>
                <a:tc>
                  <a:txBody>
                    <a:bodyPr/>
                    <a:lstStyle/>
                    <a:p>
                      <a:pPr>
                        <a:buNone/>
                      </a:pPr>
                      <a:r>
                        <a:rPr lang="en-US" sz="2000" dirty="0">
                          <a:solidFill>
                            <a:srgbClr val="C00000"/>
                          </a:solidFill>
                        </a:rPr>
                        <a:t>Bridge</a:t>
                      </a:r>
                      <a:r>
                        <a:rPr lang="en-US" sz="2000" dirty="0"/>
                        <a:t> business strategy and technology investments to accelerate growth</a:t>
                      </a:r>
                    </a:p>
                  </a:txBody>
                  <a:tcPr anchor="ctr">
                    <a:lnL>
                      <a:noFill/>
                    </a:lnL>
                    <a:lnR>
                      <a:noFill/>
                    </a:lnR>
                    <a:lnT>
                      <a:noFill/>
                    </a:lnT>
                    <a:lnB>
                      <a:noFill/>
                    </a:lnB>
                    <a:noFill/>
                  </a:tcPr>
                </a:tc>
                <a:extLst>
                  <a:ext uri="{0D108BD9-81ED-4DB2-BD59-A6C34878D82A}">
                    <a16:rowId xmlns:a16="http://schemas.microsoft.com/office/drawing/2014/main" val="661205126"/>
                  </a:ext>
                </a:extLst>
              </a:tr>
            </a:tbl>
          </a:graphicData>
        </a:graphic>
      </p:graphicFrame>
      <p:graphicFrame>
        <p:nvGraphicFramePr>
          <p:cNvPr id="13" name="Table 12">
            <a:extLst>
              <a:ext uri="{FF2B5EF4-FFF2-40B4-BE49-F238E27FC236}">
                <a16:creationId xmlns:a16="http://schemas.microsoft.com/office/drawing/2014/main" id="{8CE44704-3F10-C7A3-7F70-26A9824C4447}"/>
              </a:ext>
            </a:extLst>
          </p:cNvPr>
          <p:cNvGraphicFramePr>
            <a:graphicFrameLocks noGrp="1"/>
          </p:cNvGraphicFramePr>
          <p:nvPr>
            <p:extLst>
              <p:ext uri="{D42A27DB-BD31-4B8C-83A1-F6EECF244321}">
                <p14:modId xmlns:p14="http://schemas.microsoft.com/office/powerpoint/2010/main" val="3011023031"/>
              </p:ext>
            </p:extLst>
          </p:nvPr>
        </p:nvGraphicFramePr>
        <p:xfrm>
          <a:off x="838198" y="1914559"/>
          <a:ext cx="10515600" cy="701040"/>
        </p:xfrm>
        <a:graphic>
          <a:graphicData uri="http://schemas.openxmlformats.org/drawingml/2006/table">
            <a:tbl>
              <a:tblPr/>
              <a:tblGrid>
                <a:gridCol w="5257800">
                  <a:extLst>
                    <a:ext uri="{9D8B030D-6E8A-4147-A177-3AD203B41FA5}">
                      <a16:colId xmlns:a16="http://schemas.microsoft.com/office/drawing/2014/main" val="2685176862"/>
                    </a:ext>
                  </a:extLst>
                </a:gridCol>
                <a:gridCol w="5257800">
                  <a:extLst>
                    <a:ext uri="{9D8B030D-6E8A-4147-A177-3AD203B41FA5}">
                      <a16:colId xmlns:a16="http://schemas.microsoft.com/office/drawing/2014/main" val="3764606714"/>
                    </a:ext>
                  </a:extLst>
                </a:gridCol>
              </a:tblGrid>
              <a:tr h="0">
                <a:tc>
                  <a:txBody>
                    <a:bodyPr/>
                    <a:lstStyle/>
                    <a:p>
                      <a:pPr>
                        <a:buNone/>
                      </a:pPr>
                      <a:r>
                        <a:rPr lang="en-US" sz="2000" dirty="0"/>
                        <a:t>Reduced platform duplication and operational overhead</a:t>
                      </a:r>
                      <a:endParaRPr lang="en-US" sz="2000" dirty="0">
                        <a:solidFill>
                          <a:srgbClr val="C00000"/>
                        </a:solidFill>
                      </a:endParaRPr>
                    </a:p>
                  </a:txBody>
                  <a:tcPr anchor="ctr">
                    <a:lnL>
                      <a:noFill/>
                    </a:lnL>
                    <a:lnR>
                      <a:noFill/>
                    </a:lnR>
                    <a:lnT>
                      <a:noFill/>
                    </a:lnT>
                    <a:lnB>
                      <a:noFill/>
                    </a:lnB>
                    <a:noFill/>
                  </a:tcPr>
                </a:tc>
                <a:tc>
                  <a:txBody>
                    <a:bodyPr/>
                    <a:lstStyle/>
                    <a:p>
                      <a:pPr>
                        <a:buNone/>
                      </a:pPr>
                      <a:r>
                        <a:rPr lang="en-US" sz="2000" dirty="0"/>
                        <a:t>Drive </a:t>
                      </a:r>
                      <a:r>
                        <a:rPr lang="en-US" sz="2000" dirty="0">
                          <a:solidFill>
                            <a:srgbClr val="C00000"/>
                          </a:solidFill>
                        </a:rPr>
                        <a:t>AI-enabled</a:t>
                      </a:r>
                      <a:r>
                        <a:rPr lang="en-US" sz="2000" dirty="0"/>
                        <a:t> engineering productivity and platform innovation</a:t>
                      </a:r>
                    </a:p>
                  </a:txBody>
                  <a:tcPr anchor="ctr">
                    <a:lnL>
                      <a:noFill/>
                    </a:lnL>
                    <a:lnR>
                      <a:noFill/>
                    </a:lnR>
                    <a:lnT>
                      <a:noFill/>
                    </a:lnT>
                    <a:lnB>
                      <a:noFill/>
                    </a:lnB>
                    <a:noFill/>
                  </a:tcPr>
                </a:tc>
                <a:extLst>
                  <a:ext uri="{0D108BD9-81ED-4DB2-BD59-A6C34878D82A}">
                    <a16:rowId xmlns:a16="http://schemas.microsoft.com/office/drawing/2014/main" val="661205126"/>
                  </a:ext>
                </a:extLst>
              </a:tr>
            </a:tbl>
          </a:graphicData>
        </a:graphic>
      </p:graphicFrame>
      <p:graphicFrame>
        <p:nvGraphicFramePr>
          <p:cNvPr id="14" name="Table 13">
            <a:extLst>
              <a:ext uri="{FF2B5EF4-FFF2-40B4-BE49-F238E27FC236}">
                <a16:creationId xmlns:a16="http://schemas.microsoft.com/office/drawing/2014/main" id="{7310D26F-0489-ADAA-2290-1D2920C78EBC}"/>
              </a:ext>
            </a:extLst>
          </p:cNvPr>
          <p:cNvGraphicFramePr>
            <a:graphicFrameLocks noGrp="1"/>
          </p:cNvGraphicFramePr>
          <p:nvPr>
            <p:extLst>
              <p:ext uri="{D42A27DB-BD31-4B8C-83A1-F6EECF244321}">
                <p14:modId xmlns:p14="http://schemas.microsoft.com/office/powerpoint/2010/main" val="1430538919"/>
              </p:ext>
            </p:extLst>
          </p:nvPr>
        </p:nvGraphicFramePr>
        <p:xfrm>
          <a:off x="838198" y="1330799"/>
          <a:ext cx="10515600" cy="457200"/>
        </p:xfrm>
        <a:graphic>
          <a:graphicData uri="http://schemas.openxmlformats.org/drawingml/2006/table">
            <a:tbl>
              <a:tblPr/>
              <a:tblGrid>
                <a:gridCol w="5257800">
                  <a:extLst>
                    <a:ext uri="{9D8B030D-6E8A-4147-A177-3AD203B41FA5}">
                      <a16:colId xmlns:a16="http://schemas.microsoft.com/office/drawing/2014/main" val="2685176862"/>
                    </a:ext>
                  </a:extLst>
                </a:gridCol>
                <a:gridCol w="5257800">
                  <a:extLst>
                    <a:ext uri="{9D8B030D-6E8A-4147-A177-3AD203B41FA5}">
                      <a16:colId xmlns:a16="http://schemas.microsoft.com/office/drawing/2014/main" val="3764606714"/>
                    </a:ext>
                  </a:extLst>
                </a:gridCol>
              </a:tblGrid>
              <a:tr h="0">
                <a:tc>
                  <a:txBody>
                    <a:bodyPr/>
                    <a:lstStyle/>
                    <a:p>
                      <a:pPr>
                        <a:buNone/>
                      </a:pPr>
                      <a:r>
                        <a:rPr lang="en-US" sz="2400" b="1" dirty="0"/>
                        <a:t>Enterprise Outcomes</a:t>
                      </a:r>
                    </a:p>
                  </a:txBody>
                  <a:tcPr anchor="ctr">
                    <a:lnL>
                      <a:noFill/>
                    </a:lnL>
                    <a:lnR>
                      <a:noFill/>
                    </a:lnR>
                    <a:lnT>
                      <a:noFill/>
                    </a:lnT>
                    <a:lnB>
                      <a:noFill/>
                    </a:lnB>
                    <a:solidFill>
                      <a:schemeClr val="bg1">
                        <a:lumMod val="95000"/>
                      </a:schemeClr>
                    </a:solidFill>
                  </a:tcPr>
                </a:tc>
                <a:tc>
                  <a:txBody>
                    <a:bodyPr/>
                    <a:lstStyle/>
                    <a:p>
                      <a:pPr>
                        <a:buNone/>
                      </a:pPr>
                      <a:r>
                        <a:rPr lang="en-US" sz="2400" b="1" dirty="0"/>
                        <a:t>Future Platform Evolution</a:t>
                      </a:r>
                    </a:p>
                  </a:txBody>
                  <a:tcPr anchor="ctr">
                    <a:lnL>
                      <a:noFill/>
                    </a:lnL>
                    <a:lnR>
                      <a:noFill/>
                    </a:lnR>
                    <a:lnT>
                      <a:noFill/>
                    </a:lnT>
                    <a:lnB>
                      <a:noFill/>
                    </a:lnB>
                    <a:solidFill>
                      <a:schemeClr val="bg1">
                        <a:lumMod val="95000"/>
                      </a:schemeClr>
                    </a:solidFill>
                  </a:tcPr>
                </a:tc>
                <a:extLst>
                  <a:ext uri="{0D108BD9-81ED-4DB2-BD59-A6C34878D82A}">
                    <a16:rowId xmlns:a16="http://schemas.microsoft.com/office/drawing/2014/main" val="661205126"/>
                  </a:ext>
                </a:extLst>
              </a:tr>
            </a:tbl>
          </a:graphicData>
        </a:graphic>
      </p:graphicFrame>
    </p:spTree>
    <p:extLst>
      <p:ext uri="{BB962C8B-B14F-4D97-AF65-F5344CB8AC3E}">
        <p14:creationId xmlns:p14="http://schemas.microsoft.com/office/powerpoint/2010/main" val="12059955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700642-3D9F-6F61-5C0D-55E7844FC4C8}"/>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4279283C-07CC-D5ED-4187-80C59D1EDB5B}"/>
              </a:ext>
            </a:extLst>
          </p:cNvPr>
          <p:cNvSpPr>
            <a:spLocks noGrp="1"/>
          </p:cNvSpPr>
          <p:nvPr>
            <p:ph idx="1"/>
          </p:nvPr>
        </p:nvSpPr>
        <p:spPr>
          <a:xfrm>
            <a:off x="838200" y="924288"/>
            <a:ext cx="10515600" cy="4351338"/>
          </a:xfrm>
        </p:spPr>
        <p:txBody>
          <a:bodyPr/>
          <a:lstStyle/>
          <a:p>
            <a:pPr marL="0" indent="0">
              <a:buNone/>
            </a:pPr>
            <a:r>
              <a:rPr lang="en-US" sz="3200" dirty="0"/>
              <a:t>Thank You</a:t>
            </a:r>
          </a:p>
          <a:p>
            <a:pPr marL="0" indent="0" algn="ctr">
              <a:buNone/>
            </a:pPr>
            <a:endParaRPr lang="en-US" b="1" dirty="0"/>
          </a:p>
          <a:p>
            <a:pPr marL="0" indent="0">
              <a:buNone/>
            </a:pPr>
            <a:r>
              <a:rPr lang="en-US" sz="2400" b="1" dirty="0"/>
              <a:t>Enterprise Impact Through Strategy, Influence &amp; Scale</a:t>
            </a:r>
          </a:p>
          <a:p>
            <a:pPr marL="0" indent="0">
              <a:buNone/>
            </a:pPr>
            <a:r>
              <a:rPr lang="en-US" sz="2400" i="1" dirty="0"/>
              <a:t>Building the platforms, partnerships, and capabilities that enable the organization to grow.</a:t>
            </a:r>
            <a:endParaRPr lang="en-US" sz="2400" dirty="0"/>
          </a:p>
          <a:p>
            <a:pPr marL="0" indent="0">
              <a:buNone/>
            </a:pPr>
            <a:endParaRPr lang="en-US" b="1" dirty="0"/>
          </a:p>
          <a:p>
            <a:pPr marL="0" indent="0">
              <a:buNone/>
            </a:pPr>
            <a:r>
              <a:rPr lang="en-US" sz="2400" b="1" dirty="0"/>
              <a:t>Questions &amp; Discussion</a:t>
            </a:r>
          </a:p>
        </p:txBody>
      </p:sp>
    </p:spTree>
    <p:extLst>
      <p:ext uri="{BB962C8B-B14F-4D97-AF65-F5344CB8AC3E}">
        <p14:creationId xmlns:p14="http://schemas.microsoft.com/office/powerpoint/2010/main" val="358699228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TotalTime>
  <Words>1306</Words>
  <Application>Microsoft Office PowerPoint</Application>
  <PresentationFormat>Widescreen</PresentationFormat>
  <Paragraphs>133</Paragraphs>
  <Slides>5</Slides>
  <Notes>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Arial</vt:lpstr>
      <vt:lpstr>Calibri</vt:lpstr>
      <vt:lpstr>Calibri Light</vt:lpstr>
      <vt:lpstr>Office Theme</vt:lpstr>
      <vt:lpstr>PowerPoint Presentation</vt:lpstr>
      <vt:lpstr>Scaling Impact Beyond Application Delivery to Enterprise-Wide Capability Building</vt:lpstr>
      <vt:lpstr>Driving Enterprise Outcomes Through Influence</vt:lpstr>
      <vt:lpstr>Enterprise Impact &amp; Future Platform Strategy</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gayatri hiremath</dc:creator>
  <cp:lastModifiedBy>gayatri hiremath</cp:lastModifiedBy>
  <cp:revision>1</cp:revision>
  <dcterms:created xsi:type="dcterms:W3CDTF">2026-06-07T08:29:11Z</dcterms:created>
  <dcterms:modified xsi:type="dcterms:W3CDTF">2026-06-07T08:39:25Z</dcterms:modified>
</cp:coreProperties>
</file>